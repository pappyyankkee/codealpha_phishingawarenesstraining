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1830"/>
        </a:solidFill>
        <a:effectLst/>
      </p:bgPr>
    </p:bg>
    <p:spTree>
      <p:nvGrpSpPr>
        <p:cNvPr id="1" name=""/>
        <p:cNvGrpSpPr/>
        <p:nvPr/>
      </p:nvGrpSpPr>
      <p:grpSpPr/>
      <p:sp>
        <p:nvSpPr>
          <p:cNvPr id="2" name="Rectangle 1"/>
          <p:cNvSpPr/>
          <p:nvPr/>
        </p:nvSpPr>
        <p:spPr>
          <a:xfrm>
            <a:off x="8092440" y="0"/>
            <a:ext cx="4096512" cy="6858000"/>
          </a:xfrm>
          <a:prstGeom prst="rect">
            <a:avLst/>
          </a:prstGeom>
          <a:solidFill>
            <a:srgbClr val="14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entagon 2"/>
          <p:cNvSpPr/>
          <p:nvPr/>
        </p:nvSpPr>
        <p:spPr>
          <a:xfrm>
            <a:off x="8915400" y="1417320"/>
            <a:ext cx="2011680" cy="2240280"/>
          </a:xfrm>
          <a:prstGeom prst="homePlate">
            <a:avLst/>
          </a:prstGeom>
          <a:solidFill>
            <a:srgbClr val="3075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entagon 3"/>
          <p:cNvSpPr/>
          <p:nvPr/>
        </p:nvSpPr>
        <p:spPr>
          <a:xfrm>
            <a:off x="9253728" y="1755648"/>
            <a:ext cx="1335024" cy="1554480"/>
          </a:xfrm>
          <a:prstGeom prst="homePlate">
            <a:avLst/>
          </a:prstGeom>
          <a:solidFill>
            <a:srgbClr val="0C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400032" y="2057400"/>
            <a:ext cx="1051560" cy="640080"/>
          </a:xfrm>
          <a:prstGeom prst="rect">
            <a:avLst/>
          </a:prstGeom>
          <a:noFill/>
        </p:spPr>
        <p:txBody>
          <a:bodyPr wrap="square" lIns="45720" rIns="45720" anchor="ctr">
            <a:spAutoFit/>
          </a:bodyPr>
          <a:lstStyle/>
          <a:p>
            <a:pPr algn="ctr">
              <a:spcAft>
                <a:spcPts val="300"/>
              </a:spcAft>
            </a:pPr>
            <a:r>
              <a:rPr sz="4200" b="1">
                <a:solidFill>
                  <a:srgbClr val="44D2DC"/>
                </a:solidFill>
                <a:latin typeface="Aptos"/>
              </a:rPr>
              <a:t>✓</a:t>
            </a:r>
          </a:p>
        </p:txBody>
      </p:sp>
      <p:sp>
        <p:nvSpPr>
          <p:cNvPr id="6" name="TextBox 5"/>
          <p:cNvSpPr txBox="1"/>
          <p:nvPr/>
        </p:nvSpPr>
        <p:spPr>
          <a:xfrm>
            <a:off x="777240" y="685800"/>
            <a:ext cx="6309360" cy="320040"/>
          </a:xfrm>
          <a:prstGeom prst="rect">
            <a:avLst/>
          </a:prstGeom>
          <a:noFill/>
        </p:spPr>
        <p:txBody>
          <a:bodyPr wrap="square" lIns="45720" rIns="45720" anchor="t">
            <a:spAutoFit/>
          </a:bodyPr>
          <a:lstStyle/>
          <a:p>
            <a:pPr algn="l">
              <a:spcAft>
                <a:spcPts val="300"/>
              </a:spcAft>
            </a:pPr>
            <a:r>
              <a:rPr sz="1200" b="1">
                <a:solidFill>
                  <a:srgbClr val="44D2DC"/>
                </a:solidFill>
                <a:latin typeface="Aptos"/>
              </a:rPr>
              <a:t>CYBERSECURITY AWARENESS</a:t>
            </a:r>
          </a:p>
        </p:txBody>
      </p:sp>
      <p:sp>
        <p:nvSpPr>
          <p:cNvPr id="7" name="TextBox 6"/>
          <p:cNvSpPr txBox="1"/>
          <p:nvPr/>
        </p:nvSpPr>
        <p:spPr>
          <a:xfrm>
            <a:off x="731520" y="1371600"/>
            <a:ext cx="6858000" cy="2377440"/>
          </a:xfrm>
          <a:prstGeom prst="rect">
            <a:avLst/>
          </a:prstGeom>
          <a:noFill/>
        </p:spPr>
        <p:txBody>
          <a:bodyPr wrap="square" lIns="45720" rIns="45720" anchor="t">
            <a:spAutoFit/>
          </a:bodyPr>
          <a:lstStyle/>
          <a:p>
            <a:pPr algn="l">
              <a:spcAft>
                <a:spcPts val="300"/>
              </a:spcAft>
            </a:pPr>
            <a:r>
              <a:rPr sz="3400" b="1">
                <a:solidFill>
                  <a:srgbClr val="F5F8FC"/>
                </a:solidFill>
                <a:latin typeface="Aptos"/>
              </a:rPr>
              <a:t>PHISHING
AWARENESS
TRAINING</a:t>
            </a:r>
          </a:p>
        </p:txBody>
      </p:sp>
      <p:sp>
        <p:nvSpPr>
          <p:cNvPr id="8" name="TextBox 7"/>
          <p:cNvSpPr txBox="1"/>
          <p:nvPr/>
        </p:nvSpPr>
        <p:spPr>
          <a:xfrm>
            <a:off x="804672" y="4069080"/>
            <a:ext cx="6675120" cy="502920"/>
          </a:xfrm>
          <a:prstGeom prst="rect">
            <a:avLst/>
          </a:prstGeom>
          <a:noFill/>
        </p:spPr>
        <p:txBody>
          <a:bodyPr wrap="square" lIns="45720" rIns="45720" anchor="t">
            <a:spAutoFit/>
          </a:bodyPr>
          <a:lstStyle/>
          <a:p>
            <a:pPr algn="l">
              <a:spcAft>
                <a:spcPts val="300"/>
              </a:spcAft>
            </a:pPr>
            <a:r>
              <a:rPr sz="2100" b="1">
                <a:solidFill>
                  <a:srgbClr val="FFB14A"/>
                </a:solidFill>
                <a:latin typeface="Aptos"/>
              </a:rPr>
              <a:t>Recognize It. Avoid It. Report It.</a:t>
            </a:r>
          </a:p>
        </p:txBody>
      </p:sp>
      <p:sp>
        <p:nvSpPr>
          <p:cNvPr id="9" name="TextBox 8"/>
          <p:cNvSpPr txBox="1"/>
          <p:nvPr/>
        </p:nvSpPr>
        <p:spPr>
          <a:xfrm>
            <a:off x="822960" y="4800600"/>
            <a:ext cx="6126480" cy="320040"/>
          </a:xfrm>
          <a:prstGeom prst="rect">
            <a:avLst/>
          </a:prstGeom>
          <a:noFill/>
        </p:spPr>
        <p:txBody>
          <a:bodyPr wrap="square" lIns="45720" rIns="45720" anchor="t">
            <a:spAutoFit/>
          </a:bodyPr>
          <a:lstStyle/>
          <a:p>
            <a:pPr algn="l">
              <a:spcAft>
                <a:spcPts val="300"/>
              </a:spcAft>
            </a:pPr>
            <a:r>
              <a:rPr sz="1500" b="0">
                <a:solidFill>
                  <a:srgbClr val="B4C2D6"/>
                </a:solidFill>
                <a:latin typeface="Aptos"/>
              </a:rPr>
              <a:t>A Cybersecurity Awareness Project</a:t>
            </a:r>
          </a:p>
        </p:txBody>
      </p:sp>
      <p:sp>
        <p:nvSpPr>
          <p:cNvPr id="10" name="TextBox 9"/>
          <p:cNvSpPr txBox="1"/>
          <p:nvPr/>
        </p:nvSpPr>
        <p:spPr>
          <a:xfrm>
            <a:off x="822960" y="5394960"/>
            <a:ext cx="6126480" cy="274320"/>
          </a:xfrm>
          <a:prstGeom prst="rect">
            <a:avLst/>
          </a:prstGeom>
          <a:noFill/>
        </p:spPr>
        <p:txBody>
          <a:bodyPr wrap="square" lIns="45720" rIns="45720" anchor="t">
            <a:spAutoFit/>
          </a:bodyPr>
          <a:lstStyle/>
          <a:p>
            <a:pPr algn="l">
              <a:spcAft>
                <a:spcPts val="300"/>
              </a:spcAft>
            </a:pPr>
            <a:r>
              <a:rPr sz="1300" b="1">
                <a:solidFill>
                  <a:srgbClr val="F5F8FC"/>
                </a:solidFill>
                <a:latin typeface="Aptos"/>
              </a:rPr>
              <a:t>Prepared by: Abraham Agboola</a:t>
            </a:r>
          </a:p>
        </p:txBody>
      </p:sp>
      <p:sp>
        <p:nvSpPr>
          <p:cNvPr id="11" name="TextBox 10"/>
          <p:cNvSpPr txBox="1"/>
          <p:nvPr/>
        </p:nvSpPr>
        <p:spPr>
          <a:xfrm>
            <a:off x="822960" y="5742432"/>
            <a:ext cx="6126480" cy="274320"/>
          </a:xfrm>
          <a:prstGeom prst="rect">
            <a:avLst/>
          </a:prstGeom>
          <a:noFill/>
        </p:spPr>
        <p:txBody>
          <a:bodyPr wrap="square" lIns="45720" rIns="45720" anchor="t">
            <a:spAutoFit/>
          </a:bodyPr>
          <a:lstStyle/>
          <a:p>
            <a:pPr algn="l">
              <a:spcAft>
                <a:spcPts val="300"/>
              </a:spcAft>
            </a:pPr>
            <a:r>
              <a:rPr sz="1200" b="0">
                <a:solidFill>
                  <a:srgbClr val="B4C2D6"/>
                </a:solidFill>
                <a:latin typeface="Aptos"/>
              </a:rPr>
              <a:t>CodeAlpha Cyber Security Internship</a:t>
            </a:r>
          </a:p>
        </p:txBody>
      </p:sp>
      <p:sp>
        <p:nvSpPr>
          <p:cNvPr id="12" name="TextBox 11"/>
          <p:cNvSpPr txBox="1"/>
          <p:nvPr/>
        </p:nvSpPr>
        <p:spPr>
          <a:xfrm>
            <a:off x="8366760" y="4709160"/>
            <a:ext cx="3566160" cy="320040"/>
          </a:xfrm>
          <a:prstGeom prst="rect">
            <a:avLst/>
          </a:prstGeom>
          <a:noFill/>
        </p:spPr>
        <p:txBody>
          <a:bodyPr wrap="square" lIns="45720" rIns="45720" anchor="t">
            <a:spAutoFit/>
          </a:bodyPr>
          <a:lstStyle/>
          <a:p>
            <a:pPr algn="ctr">
              <a:spcAft>
                <a:spcPts val="300"/>
              </a:spcAft>
            </a:pPr>
            <a:r>
              <a:rPr sz="1300" b="1">
                <a:solidFill>
                  <a:srgbClr val="44D2DC"/>
                </a:solidFill>
                <a:latin typeface="Aptos"/>
              </a:rPr>
              <a:t>THINK BEFORE YOU CLICK</a:t>
            </a:r>
          </a:p>
        </p:txBody>
      </p:sp>
      <p:sp>
        <p:nvSpPr>
          <p:cNvPr id="13" name="TextBox 12"/>
          <p:cNvSpPr txBox="1"/>
          <p:nvPr/>
        </p:nvSpPr>
        <p:spPr>
          <a:xfrm>
            <a:off x="8458200" y="5166360"/>
            <a:ext cx="3383280" cy="640080"/>
          </a:xfrm>
          <a:prstGeom prst="rect">
            <a:avLst/>
          </a:prstGeom>
          <a:noFill/>
        </p:spPr>
        <p:txBody>
          <a:bodyPr wrap="square" lIns="45720" rIns="45720" anchor="t">
            <a:spAutoFit/>
          </a:bodyPr>
          <a:lstStyle/>
          <a:p>
            <a:pPr algn="ctr">
              <a:spcAft>
                <a:spcPts val="300"/>
              </a:spcAft>
            </a:pPr>
            <a:r>
              <a:rPr sz="1500" b="0">
                <a:solidFill>
                  <a:srgbClr val="F5F8FC"/>
                </a:solidFill>
                <a:latin typeface="Aptos"/>
              </a:rPr>
              <a:t>Learn the warning signs.
Protect your information.</a:t>
            </a:r>
          </a:p>
        </p:txBody>
      </p:sp>
      <p:sp>
        <p:nvSpPr>
          <p:cNvPr id="14" name="TextBox 13"/>
          <p:cNvSpPr txBox="1"/>
          <p:nvPr/>
        </p:nvSpPr>
        <p:spPr>
          <a:xfrm>
            <a:off x="594360" y="6510528"/>
            <a:ext cx="6400800" cy="164592"/>
          </a:xfrm>
          <a:prstGeom prst="rect">
            <a:avLst/>
          </a:prstGeom>
          <a:noFill/>
        </p:spPr>
        <p:txBody>
          <a:bodyPr wrap="square" lIns="45720" rIns="45720" anchor="t">
            <a:spAutoFit/>
          </a:bodyPr>
          <a:lstStyle/>
          <a:p>
            <a:pPr algn="l">
              <a:spcAft>
                <a:spcPts val="300"/>
              </a:spcAft>
            </a:pPr>
            <a:r>
              <a:rPr sz="800" b="1">
                <a:solidFill>
                  <a:srgbClr val="B4C2D6"/>
                </a:solidFill>
                <a:latin typeface="Aptos"/>
              </a:rPr>
              <a:t>CODEALPHA  •  PHISHING AWARENESS</a:t>
            </a:r>
          </a:p>
        </p:txBody>
      </p:sp>
      <p:sp>
        <p:nvSpPr>
          <p:cNvPr id="15" name="TextBox 14"/>
          <p:cNvSpPr txBox="1"/>
          <p:nvPr/>
        </p:nvSpPr>
        <p:spPr>
          <a:xfrm>
            <a:off x="11247120" y="6473952"/>
            <a:ext cx="320040" cy="201168"/>
          </a:xfrm>
          <a:prstGeom prst="rect">
            <a:avLst/>
          </a:prstGeom>
          <a:noFill/>
        </p:spPr>
        <p:txBody>
          <a:bodyPr wrap="square" lIns="45720" rIns="45720" anchor="t">
            <a:spAutoFit/>
          </a:bodyPr>
          <a:lstStyle/>
          <a:p>
            <a:pPr algn="r">
              <a:spcAft>
                <a:spcPts val="300"/>
              </a:spcAft>
            </a:pPr>
            <a:r>
              <a:rPr sz="900" b="1">
                <a:solidFill>
                  <a:srgbClr val="44D2DC"/>
                </a:solidFill>
                <a:latin typeface="Apto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C1830"/>
        </a:solidFill>
        <a:effectLst/>
      </p:bgPr>
    </p:bg>
    <p:spTree>
      <p:nvGrpSpPr>
        <p:cNvPr id="1" name=""/>
        <p:cNvGrpSpPr/>
        <p:nvPr/>
      </p:nvGrpSpPr>
      <p:grpSpPr/>
      <p:sp>
        <p:nvSpPr>
          <p:cNvPr id="2" name="TextBox 1"/>
          <p:cNvSpPr txBox="1"/>
          <p:nvPr/>
        </p:nvSpPr>
        <p:spPr>
          <a:xfrm>
            <a:off x="594360" y="320040"/>
            <a:ext cx="5303520" cy="274320"/>
          </a:xfrm>
          <a:prstGeom prst="rect">
            <a:avLst/>
          </a:prstGeom>
          <a:noFill/>
        </p:spPr>
        <p:txBody>
          <a:bodyPr wrap="square" lIns="45720" rIns="45720" anchor="t">
            <a:spAutoFit/>
          </a:bodyPr>
          <a:lstStyle/>
          <a:p>
            <a:pPr algn="l">
              <a:spcAft>
                <a:spcPts val="300"/>
              </a:spcAft>
            </a:pPr>
            <a:r>
              <a:rPr sz="1000" b="1">
                <a:solidFill>
                  <a:srgbClr val="44D2DC"/>
                </a:solidFill>
                <a:latin typeface="Aptos"/>
              </a:rPr>
              <a:t>02  /  THE BASICS</a:t>
            </a:r>
          </a:p>
        </p:txBody>
      </p:sp>
      <p:sp>
        <p:nvSpPr>
          <p:cNvPr id="3" name="TextBox 2"/>
          <p:cNvSpPr txBox="1"/>
          <p:nvPr/>
        </p:nvSpPr>
        <p:spPr>
          <a:xfrm>
            <a:off x="594360" y="749808"/>
            <a:ext cx="10972800" cy="594360"/>
          </a:xfrm>
          <a:prstGeom prst="rect">
            <a:avLst/>
          </a:prstGeom>
          <a:noFill/>
        </p:spPr>
        <p:txBody>
          <a:bodyPr wrap="square" lIns="45720" rIns="45720" anchor="t">
            <a:spAutoFit/>
          </a:bodyPr>
          <a:lstStyle/>
          <a:p>
            <a:pPr algn="l">
              <a:spcAft>
                <a:spcPts val="300"/>
              </a:spcAft>
            </a:pPr>
            <a:r>
              <a:rPr sz="2800" b="1">
                <a:solidFill>
                  <a:srgbClr val="F5F8FC"/>
                </a:solidFill>
                <a:latin typeface="Aptos"/>
              </a:rPr>
              <a:t>What is phishing?</a:t>
            </a:r>
          </a:p>
        </p:txBody>
      </p:sp>
      <p:sp>
        <p:nvSpPr>
          <p:cNvPr id="4" name="TextBox 3"/>
          <p:cNvSpPr txBox="1"/>
          <p:nvPr/>
        </p:nvSpPr>
        <p:spPr>
          <a:xfrm>
            <a:off x="621792" y="1371600"/>
            <a:ext cx="10789920" cy="384048"/>
          </a:xfrm>
          <a:prstGeom prst="rect">
            <a:avLst/>
          </a:prstGeom>
          <a:noFill/>
        </p:spPr>
        <p:txBody>
          <a:bodyPr wrap="square" lIns="45720" rIns="45720" anchor="t">
            <a:spAutoFit/>
          </a:bodyPr>
          <a:lstStyle/>
          <a:p>
            <a:pPr algn="l">
              <a:spcAft>
                <a:spcPts val="300"/>
              </a:spcAft>
            </a:pPr>
            <a:r>
              <a:rPr sz="1300" b="0">
                <a:solidFill>
                  <a:srgbClr val="B4C2D6"/>
                </a:solidFill>
                <a:latin typeface="Aptos"/>
              </a:rPr>
              <a:t>A common social-engineering attack that tries to trick people into taking unsafe actions.</a:t>
            </a:r>
          </a:p>
        </p:txBody>
      </p:sp>
      <p:sp>
        <p:nvSpPr>
          <p:cNvPr id="5" name="Rounded Rectangle 4"/>
          <p:cNvSpPr/>
          <p:nvPr/>
        </p:nvSpPr>
        <p:spPr>
          <a:xfrm>
            <a:off x="685800" y="1965960"/>
            <a:ext cx="3474720" cy="2194560"/>
          </a:xfrm>
          <a:prstGeom prst="roundRect">
            <a:avLst/>
          </a:prstGeom>
          <a:solidFill>
            <a:srgbClr val="14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1965960"/>
            <a:ext cx="73152" cy="2194560"/>
          </a:xfrm>
          <a:prstGeom prst="rect">
            <a:avLst/>
          </a:prstGeom>
          <a:solidFill>
            <a:srgbClr val="3075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148840"/>
            <a:ext cx="3063239" cy="365760"/>
          </a:xfrm>
          <a:prstGeom prst="rect">
            <a:avLst/>
          </a:prstGeom>
          <a:noFill/>
        </p:spPr>
        <p:txBody>
          <a:bodyPr wrap="square" lIns="45720" rIns="45720" anchor="t">
            <a:spAutoFit/>
          </a:bodyPr>
          <a:lstStyle/>
          <a:p>
            <a:pPr algn="l">
              <a:spcAft>
                <a:spcPts val="300"/>
              </a:spcAft>
            </a:pPr>
            <a:r>
              <a:rPr sz="1800" b="1">
                <a:solidFill>
                  <a:srgbClr val="F5F8FC"/>
                </a:solidFill>
                <a:latin typeface="Aptos"/>
              </a:rPr>
              <a:t>THE TRICK</a:t>
            </a:r>
          </a:p>
        </p:txBody>
      </p:sp>
      <p:sp>
        <p:nvSpPr>
          <p:cNvPr id="8" name="TextBox 7"/>
          <p:cNvSpPr txBox="1"/>
          <p:nvPr/>
        </p:nvSpPr>
        <p:spPr>
          <a:xfrm>
            <a:off x="914400" y="2624328"/>
            <a:ext cx="3063239" cy="1417319"/>
          </a:xfrm>
          <a:prstGeom prst="rect">
            <a:avLst/>
          </a:prstGeom>
          <a:noFill/>
        </p:spPr>
        <p:txBody>
          <a:bodyPr wrap="square" lIns="45720" rIns="45720" anchor="t">
            <a:spAutoFit/>
          </a:bodyPr>
          <a:lstStyle/>
          <a:p>
            <a:pPr algn="l">
              <a:spcAft>
                <a:spcPts val="300"/>
              </a:spcAft>
            </a:pPr>
            <a:r>
              <a:rPr sz="1400" b="0">
                <a:solidFill>
                  <a:srgbClr val="B4C2D6"/>
                </a:solidFill>
                <a:latin typeface="Aptos"/>
              </a:rPr>
              <a:t>An attacker pretends to be a trusted person or organization through email, text, social media, or a phone call.</a:t>
            </a:r>
          </a:p>
        </p:txBody>
      </p:sp>
      <p:sp>
        <p:nvSpPr>
          <p:cNvPr id="9" name="Rounded Rectangle 8"/>
          <p:cNvSpPr/>
          <p:nvPr/>
        </p:nvSpPr>
        <p:spPr>
          <a:xfrm>
            <a:off x="4370832" y="1965960"/>
            <a:ext cx="3474720" cy="2194560"/>
          </a:xfrm>
          <a:prstGeom prst="roundRect">
            <a:avLst/>
          </a:prstGeom>
          <a:solidFill>
            <a:srgbClr val="14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70832" y="1965960"/>
            <a:ext cx="73152" cy="2194560"/>
          </a:xfrm>
          <a:prstGeom prst="rect">
            <a:avLst/>
          </a:prstGeom>
          <a:solidFill>
            <a:srgbClr val="FFB1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9432" y="2148840"/>
            <a:ext cx="3063239" cy="365760"/>
          </a:xfrm>
          <a:prstGeom prst="rect">
            <a:avLst/>
          </a:prstGeom>
          <a:noFill/>
        </p:spPr>
        <p:txBody>
          <a:bodyPr wrap="square" lIns="45720" rIns="45720" anchor="t">
            <a:spAutoFit/>
          </a:bodyPr>
          <a:lstStyle/>
          <a:p>
            <a:pPr algn="l">
              <a:spcAft>
                <a:spcPts val="300"/>
              </a:spcAft>
            </a:pPr>
            <a:r>
              <a:rPr sz="1800" b="1">
                <a:solidFill>
                  <a:srgbClr val="F5F8FC"/>
                </a:solidFill>
                <a:latin typeface="Aptos"/>
              </a:rPr>
              <a:t>THE GOAL</a:t>
            </a:r>
          </a:p>
        </p:txBody>
      </p:sp>
      <p:sp>
        <p:nvSpPr>
          <p:cNvPr id="12" name="TextBox 11"/>
          <p:cNvSpPr txBox="1"/>
          <p:nvPr/>
        </p:nvSpPr>
        <p:spPr>
          <a:xfrm>
            <a:off x="4599432" y="2624328"/>
            <a:ext cx="3063239" cy="1417319"/>
          </a:xfrm>
          <a:prstGeom prst="rect">
            <a:avLst/>
          </a:prstGeom>
          <a:noFill/>
        </p:spPr>
        <p:txBody>
          <a:bodyPr wrap="square" lIns="45720" rIns="45720" anchor="t">
            <a:spAutoFit/>
          </a:bodyPr>
          <a:lstStyle/>
          <a:p>
            <a:pPr algn="l">
              <a:spcAft>
                <a:spcPts val="300"/>
              </a:spcAft>
            </a:pPr>
            <a:r>
              <a:rPr sz="1400" b="0">
                <a:solidFill>
                  <a:srgbClr val="B4C2D6"/>
                </a:solidFill>
                <a:latin typeface="Aptos"/>
              </a:rPr>
              <a:t>Steal passwords or money, collect personal data, or persuade someone to open a harmful link or file.</a:t>
            </a:r>
          </a:p>
        </p:txBody>
      </p:sp>
      <p:sp>
        <p:nvSpPr>
          <p:cNvPr id="13" name="Rounded Rectangle 12"/>
          <p:cNvSpPr/>
          <p:nvPr/>
        </p:nvSpPr>
        <p:spPr>
          <a:xfrm>
            <a:off x="8065008" y="1965960"/>
            <a:ext cx="3474720" cy="2194560"/>
          </a:xfrm>
          <a:prstGeom prst="roundRect">
            <a:avLst/>
          </a:prstGeom>
          <a:solidFill>
            <a:srgbClr val="14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5008" y="1965960"/>
            <a:ext cx="73152" cy="2194560"/>
          </a:xfrm>
          <a:prstGeom prst="rect">
            <a:avLst/>
          </a:prstGeom>
          <a:solidFill>
            <a:srgbClr val="F56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93608" y="2148840"/>
            <a:ext cx="3063239" cy="365760"/>
          </a:xfrm>
          <a:prstGeom prst="rect">
            <a:avLst/>
          </a:prstGeom>
          <a:noFill/>
        </p:spPr>
        <p:txBody>
          <a:bodyPr wrap="square" lIns="45720" rIns="45720" anchor="t">
            <a:spAutoFit/>
          </a:bodyPr>
          <a:lstStyle/>
          <a:p>
            <a:pPr algn="l">
              <a:spcAft>
                <a:spcPts val="300"/>
              </a:spcAft>
            </a:pPr>
            <a:r>
              <a:rPr sz="1800" b="1">
                <a:solidFill>
                  <a:srgbClr val="F5F8FC"/>
                </a:solidFill>
                <a:latin typeface="Aptos"/>
              </a:rPr>
              <a:t>THE IMPACT</a:t>
            </a:r>
          </a:p>
        </p:txBody>
      </p:sp>
      <p:sp>
        <p:nvSpPr>
          <p:cNvPr id="16" name="TextBox 15"/>
          <p:cNvSpPr txBox="1"/>
          <p:nvPr/>
        </p:nvSpPr>
        <p:spPr>
          <a:xfrm>
            <a:off x="8293608" y="2624328"/>
            <a:ext cx="3063239" cy="1417319"/>
          </a:xfrm>
          <a:prstGeom prst="rect">
            <a:avLst/>
          </a:prstGeom>
          <a:noFill/>
        </p:spPr>
        <p:txBody>
          <a:bodyPr wrap="square" lIns="45720" rIns="45720" anchor="t">
            <a:spAutoFit/>
          </a:bodyPr>
          <a:lstStyle/>
          <a:p>
            <a:pPr algn="l">
              <a:spcAft>
                <a:spcPts val="300"/>
              </a:spcAft>
            </a:pPr>
            <a:r>
              <a:rPr sz="1400" b="0">
                <a:solidFill>
                  <a:srgbClr val="B4C2D6"/>
                </a:solidFill>
                <a:latin typeface="Aptos"/>
              </a:rPr>
              <a:t>Account takeover, identity theft, financial loss, malware infection, and damage to an organization.</a:t>
            </a:r>
          </a:p>
        </p:txBody>
      </p:sp>
      <p:sp>
        <p:nvSpPr>
          <p:cNvPr id="17" name="Rounded Rectangle 16"/>
          <p:cNvSpPr/>
          <p:nvPr/>
        </p:nvSpPr>
        <p:spPr>
          <a:xfrm>
            <a:off x="731520" y="4617720"/>
            <a:ext cx="10744200" cy="914400"/>
          </a:xfrm>
          <a:prstGeom prst="roundRect">
            <a:avLst/>
          </a:prstGeom>
          <a:solidFill>
            <a:srgbClr val="14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4818888"/>
            <a:ext cx="1371600" cy="274320"/>
          </a:xfrm>
          <a:prstGeom prst="rect">
            <a:avLst/>
          </a:prstGeom>
          <a:noFill/>
        </p:spPr>
        <p:txBody>
          <a:bodyPr wrap="square" lIns="45720" rIns="45720" anchor="t">
            <a:spAutoFit/>
          </a:bodyPr>
          <a:lstStyle/>
          <a:p>
            <a:pPr algn="l">
              <a:spcAft>
                <a:spcPts val="300"/>
              </a:spcAft>
            </a:pPr>
            <a:r>
              <a:rPr sz="1500" b="1">
                <a:solidFill>
                  <a:srgbClr val="44D2DC"/>
                </a:solidFill>
                <a:latin typeface="Aptos"/>
              </a:rPr>
              <a:t>Remember:</a:t>
            </a:r>
          </a:p>
        </p:txBody>
      </p:sp>
      <p:sp>
        <p:nvSpPr>
          <p:cNvPr id="19" name="TextBox 18"/>
          <p:cNvSpPr txBox="1"/>
          <p:nvPr/>
        </p:nvSpPr>
        <p:spPr>
          <a:xfrm>
            <a:off x="2240280" y="4773168"/>
            <a:ext cx="8915400" cy="457200"/>
          </a:xfrm>
          <a:prstGeom prst="rect">
            <a:avLst/>
          </a:prstGeom>
          <a:noFill/>
        </p:spPr>
        <p:txBody>
          <a:bodyPr wrap="square" lIns="45720" rIns="45720" anchor="t">
            <a:spAutoFit/>
          </a:bodyPr>
          <a:lstStyle/>
          <a:p>
            <a:pPr algn="l">
              <a:spcAft>
                <a:spcPts val="300"/>
              </a:spcAft>
            </a:pPr>
            <a:r>
              <a:rPr sz="1500" b="0">
                <a:solidFill>
                  <a:srgbClr val="F5F8FC"/>
                </a:solidFill>
                <a:latin typeface="Aptos"/>
              </a:rPr>
              <a:t>Phishing is not only an email problem. It can arrive through SMS, calls, messaging apps, and social media.</a:t>
            </a:r>
          </a:p>
        </p:txBody>
      </p:sp>
      <p:sp>
        <p:nvSpPr>
          <p:cNvPr id="20" name="TextBox 19"/>
          <p:cNvSpPr txBox="1"/>
          <p:nvPr/>
        </p:nvSpPr>
        <p:spPr>
          <a:xfrm>
            <a:off x="594360" y="6510528"/>
            <a:ext cx="6400800" cy="164592"/>
          </a:xfrm>
          <a:prstGeom prst="rect">
            <a:avLst/>
          </a:prstGeom>
          <a:noFill/>
        </p:spPr>
        <p:txBody>
          <a:bodyPr wrap="square" lIns="45720" rIns="45720" anchor="t">
            <a:spAutoFit/>
          </a:bodyPr>
          <a:lstStyle/>
          <a:p>
            <a:pPr algn="l">
              <a:spcAft>
                <a:spcPts val="300"/>
              </a:spcAft>
            </a:pPr>
            <a:r>
              <a:rPr sz="800" b="1">
                <a:solidFill>
                  <a:srgbClr val="B4C2D6"/>
                </a:solidFill>
                <a:latin typeface="Aptos"/>
              </a:rPr>
              <a:t>CODEALPHA  •  PHISHING AWARENESS</a:t>
            </a:r>
          </a:p>
        </p:txBody>
      </p:sp>
      <p:sp>
        <p:nvSpPr>
          <p:cNvPr id="21" name="TextBox 20"/>
          <p:cNvSpPr txBox="1"/>
          <p:nvPr/>
        </p:nvSpPr>
        <p:spPr>
          <a:xfrm>
            <a:off x="11247120" y="6473952"/>
            <a:ext cx="320040" cy="201168"/>
          </a:xfrm>
          <a:prstGeom prst="rect">
            <a:avLst/>
          </a:prstGeom>
          <a:noFill/>
        </p:spPr>
        <p:txBody>
          <a:bodyPr wrap="square" lIns="45720" rIns="45720" anchor="t">
            <a:spAutoFit/>
          </a:bodyPr>
          <a:lstStyle/>
          <a:p>
            <a:pPr algn="r">
              <a:spcAft>
                <a:spcPts val="300"/>
              </a:spcAft>
            </a:pPr>
            <a:r>
              <a:rPr sz="900" b="1">
                <a:solidFill>
                  <a:srgbClr val="44D2DC"/>
                </a:solidFill>
                <a:latin typeface="Apto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C1830"/>
        </a:solidFill>
        <a:effectLst/>
      </p:bgPr>
    </p:bg>
    <p:spTree>
      <p:nvGrpSpPr>
        <p:cNvPr id="1" name=""/>
        <p:cNvGrpSpPr/>
        <p:nvPr/>
      </p:nvGrpSpPr>
      <p:grpSpPr/>
      <p:sp>
        <p:nvSpPr>
          <p:cNvPr id="2" name="TextBox 1"/>
          <p:cNvSpPr txBox="1"/>
          <p:nvPr/>
        </p:nvSpPr>
        <p:spPr>
          <a:xfrm>
            <a:off x="594360" y="320040"/>
            <a:ext cx="5303520" cy="274320"/>
          </a:xfrm>
          <a:prstGeom prst="rect">
            <a:avLst/>
          </a:prstGeom>
          <a:noFill/>
        </p:spPr>
        <p:txBody>
          <a:bodyPr wrap="square" lIns="45720" rIns="45720" anchor="t">
            <a:spAutoFit/>
          </a:bodyPr>
          <a:lstStyle/>
          <a:p>
            <a:pPr algn="l">
              <a:spcAft>
                <a:spcPts val="300"/>
              </a:spcAft>
            </a:pPr>
            <a:r>
              <a:rPr sz="1000" b="1">
                <a:solidFill>
                  <a:srgbClr val="44D2DC"/>
                </a:solidFill>
                <a:latin typeface="Aptos"/>
              </a:rPr>
              <a:t>03  /  KNOW THE ATTACK</a:t>
            </a:r>
          </a:p>
        </p:txBody>
      </p:sp>
      <p:sp>
        <p:nvSpPr>
          <p:cNvPr id="3" name="TextBox 2"/>
          <p:cNvSpPr txBox="1"/>
          <p:nvPr/>
        </p:nvSpPr>
        <p:spPr>
          <a:xfrm>
            <a:off x="594360" y="749808"/>
            <a:ext cx="10972800" cy="594360"/>
          </a:xfrm>
          <a:prstGeom prst="rect">
            <a:avLst/>
          </a:prstGeom>
          <a:noFill/>
        </p:spPr>
        <p:txBody>
          <a:bodyPr wrap="square" lIns="45720" rIns="45720" anchor="t">
            <a:spAutoFit/>
          </a:bodyPr>
          <a:lstStyle/>
          <a:p>
            <a:pPr algn="l">
              <a:spcAft>
                <a:spcPts val="300"/>
              </a:spcAft>
            </a:pPr>
            <a:r>
              <a:rPr sz="2800" b="1">
                <a:solidFill>
                  <a:srgbClr val="F5F8FC"/>
                </a:solidFill>
                <a:latin typeface="Aptos"/>
              </a:rPr>
              <a:t>Common types of phishing</a:t>
            </a:r>
          </a:p>
        </p:txBody>
      </p:sp>
      <p:sp>
        <p:nvSpPr>
          <p:cNvPr id="4" name="TextBox 3"/>
          <p:cNvSpPr txBox="1"/>
          <p:nvPr/>
        </p:nvSpPr>
        <p:spPr>
          <a:xfrm>
            <a:off x="621792" y="1371600"/>
            <a:ext cx="10789920" cy="384048"/>
          </a:xfrm>
          <a:prstGeom prst="rect">
            <a:avLst/>
          </a:prstGeom>
          <a:noFill/>
        </p:spPr>
        <p:txBody>
          <a:bodyPr wrap="square" lIns="45720" rIns="45720" anchor="t">
            <a:spAutoFit/>
          </a:bodyPr>
          <a:lstStyle/>
          <a:p>
            <a:pPr algn="l">
              <a:spcAft>
                <a:spcPts val="300"/>
              </a:spcAft>
            </a:pPr>
            <a:r>
              <a:rPr sz="1300" b="0">
                <a:solidFill>
                  <a:srgbClr val="B4C2D6"/>
                </a:solidFill>
                <a:latin typeface="Aptos"/>
              </a:rPr>
              <a:t>Attackers use different channels, but the aim is usually to make you trust and act quickly.</a:t>
            </a:r>
          </a:p>
        </p:txBody>
      </p:sp>
      <p:sp>
        <p:nvSpPr>
          <p:cNvPr id="5" name="Rounded Rectangle 4"/>
          <p:cNvSpPr/>
          <p:nvPr/>
        </p:nvSpPr>
        <p:spPr>
          <a:xfrm>
            <a:off x="685800" y="1920240"/>
            <a:ext cx="5257800" cy="1417320"/>
          </a:xfrm>
          <a:prstGeom prst="roundRect">
            <a:avLst/>
          </a:prstGeom>
          <a:solidFill>
            <a:srgbClr val="14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1920240"/>
            <a:ext cx="73152" cy="1417320"/>
          </a:xfrm>
          <a:prstGeom prst="rect">
            <a:avLst/>
          </a:prstGeom>
          <a:solidFill>
            <a:srgbClr val="3075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103120"/>
            <a:ext cx="4846320" cy="365760"/>
          </a:xfrm>
          <a:prstGeom prst="rect">
            <a:avLst/>
          </a:prstGeom>
          <a:noFill/>
        </p:spPr>
        <p:txBody>
          <a:bodyPr wrap="square" lIns="45720" rIns="45720" anchor="t">
            <a:spAutoFit/>
          </a:bodyPr>
          <a:lstStyle/>
          <a:p>
            <a:pPr algn="l">
              <a:spcAft>
                <a:spcPts val="300"/>
              </a:spcAft>
            </a:pPr>
            <a:r>
              <a:rPr sz="1700" b="1">
                <a:solidFill>
                  <a:srgbClr val="F5F8FC"/>
                </a:solidFill>
                <a:latin typeface="Aptos"/>
              </a:rPr>
              <a:t>EMAIL PHISHING</a:t>
            </a:r>
          </a:p>
        </p:txBody>
      </p:sp>
      <p:sp>
        <p:nvSpPr>
          <p:cNvPr id="8" name="TextBox 7"/>
          <p:cNvSpPr txBox="1"/>
          <p:nvPr/>
        </p:nvSpPr>
        <p:spPr>
          <a:xfrm>
            <a:off x="914400" y="2578608"/>
            <a:ext cx="4846320" cy="640080"/>
          </a:xfrm>
          <a:prstGeom prst="rect">
            <a:avLst/>
          </a:prstGeom>
          <a:noFill/>
        </p:spPr>
        <p:txBody>
          <a:bodyPr wrap="square" lIns="45720" rIns="45720" anchor="t">
            <a:spAutoFit/>
          </a:bodyPr>
          <a:lstStyle/>
          <a:p>
            <a:pPr algn="l">
              <a:spcAft>
                <a:spcPts val="300"/>
              </a:spcAft>
            </a:pPr>
            <a:r>
              <a:rPr sz="1300" b="0">
                <a:solidFill>
                  <a:srgbClr val="B4C2D6"/>
                </a:solidFill>
                <a:latin typeface="Aptos"/>
              </a:rPr>
              <a:t>A fake delivery notice, invoice, bank alert, or account warning sent by email.</a:t>
            </a:r>
          </a:p>
        </p:txBody>
      </p:sp>
      <p:sp>
        <p:nvSpPr>
          <p:cNvPr id="9" name="Rounded Rectangle 8"/>
          <p:cNvSpPr/>
          <p:nvPr/>
        </p:nvSpPr>
        <p:spPr>
          <a:xfrm>
            <a:off x="6217920" y="1920240"/>
            <a:ext cx="5257800" cy="1417320"/>
          </a:xfrm>
          <a:prstGeom prst="roundRect">
            <a:avLst/>
          </a:prstGeom>
          <a:solidFill>
            <a:srgbClr val="14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1920240"/>
            <a:ext cx="73152" cy="1417320"/>
          </a:xfrm>
          <a:prstGeom prst="rect">
            <a:avLst/>
          </a:prstGeom>
          <a:solidFill>
            <a:srgbClr val="FFB1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2103120"/>
            <a:ext cx="4846320" cy="365760"/>
          </a:xfrm>
          <a:prstGeom prst="rect">
            <a:avLst/>
          </a:prstGeom>
          <a:noFill/>
        </p:spPr>
        <p:txBody>
          <a:bodyPr wrap="square" lIns="45720" rIns="45720" anchor="t">
            <a:spAutoFit/>
          </a:bodyPr>
          <a:lstStyle/>
          <a:p>
            <a:pPr algn="l">
              <a:spcAft>
                <a:spcPts val="300"/>
              </a:spcAft>
            </a:pPr>
            <a:r>
              <a:rPr sz="1700" b="1">
                <a:solidFill>
                  <a:srgbClr val="F5F8FC"/>
                </a:solidFill>
                <a:latin typeface="Aptos"/>
              </a:rPr>
              <a:t>SPEAR PHISHING</a:t>
            </a:r>
          </a:p>
        </p:txBody>
      </p:sp>
      <p:sp>
        <p:nvSpPr>
          <p:cNvPr id="12" name="TextBox 11"/>
          <p:cNvSpPr txBox="1"/>
          <p:nvPr/>
        </p:nvSpPr>
        <p:spPr>
          <a:xfrm>
            <a:off x="6446520" y="2578608"/>
            <a:ext cx="4846320" cy="640080"/>
          </a:xfrm>
          <a:prstGeom prst="rect">
            <a:avLst/>
          </a:prstGeom>
          <a:noFill/>
        </p:spPr>
        <p:txBody>
          <a:bodyPr wrap="square" lIns="45720" rIns="45720" anchor="t">
            <a:spAutoFit/>
          </a:bodyPr>
          <a:lstStyle/>
          <a:p>
            <a:pPr algn="l">
              <a:spcAft>
                <a:spcPts val="300"/>
              </a:spcAft>
            </a:pPr>
            <a:r>
              <a:rPr sz="1300" b="0">
                <a:solidFill>
                  <a:srgbClr val="B4C2D6"/>
                </a:solidFill>
                <a:latin typeface="Aptos"/>
              </a:rPr>
              <a:t>A targeted message tailored to a particular person, team, or organization.</a:t>
            </a:r>
          </a:p>
        </p:txBody>
      </p:sp>
      <p:sp>
        <p:nvSpPr>
          <p:cNvPr id="13" name="Rounded Rectangle 12"/>
          <p:cNvSpPr/>
          <p:nvPr/>
        </p:nvSpPr>
        <p:spPr>
          <a:xfrm>
            <a:off x="685800" y="3611880"/>
            <a:ext cx="5257800" cy="1417320"/>
          </a:xfrm>
          <a:prstGeom prst="roundRect">
            <a:avLst/>
          </a:prstGeom>
          <a:solidFill>
            <a:srgbClr val="14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85800" y="3611880"/>
            <a:ext cx="73152" cy="1417320"/>
          </a:xfrm>
          <a:prstGeom prst="rect">
            <a:avLst/>
          </a:prstGeom>
          <a:solidFill>
            <a:srgbClr val="44D2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794760"/>
            <a:ext cx="4846320" cy="365760"/>
          </a:xfrm>
          <a:prstGeom prst="rect">
            <a:avLst/>
          </a:prstGeom>
          <a:noFill/>
        </p:spPr>
        <p:txBody>
          <a:bodyPr wrap="square" lIns="45720" rIns="45720" anchor="t">
            <a:spAutoFit/>
          </a:bodyPr>
          <a:lstStyle/>
          <a:p>
            <a:pPr algn="l">
              <a:spcAft>
                <a:spcPts val="300"/>
              </a:spcAft>
            </a:pPr>
            <a:r>
              <a:rPr sz="1700" b="1">
                <a:solidFill>
                  <a:srgbClr val="F5F8FC"/>
                </a:solidFill>
                <a:latin typeface="Aptos"/>
              </a:rPr>
              <a:t>SMISHING</a:t>
            </a:r>
          </a:p>
        </p:txBody>
      </p:sp>
      <p:sp>
        <p:nvSpPr>
          <p:cNvPr id="16" name="TextBox 15"/>
          <p:cNvSpPr txBox="1"/>
          <p:nvPr/>
        </p:nvSpPr>
        <p:spPr>
          <a:xfrm>
            <a:off x="914400" y="4270248"/>
            <a:ext cx="4846320" cy="640080"/>
          </a:xfrm>
          <a:prstGeom prst="rect">
            <a:avLst/>
          </a:prstGeom>
          <a:noFill/>
        </p:spPr>
        <p:txBody>
          <a:bodyPr wrap="square" lIns="45720" rIns="45720" anchor="t">
            <a:spAutoFit/>
          </a:bodyPr>
          <a:lstStyle/>
          <a:p>
            <a:pPr algn="l">
              <a:spcAft>
                <a:spcPts val="300"/>
              </a:spcAft>
            </a:pPr>
            <a:r>
              <a:rPr sz="1300" b="0">
                <a:solidFill>
                  <a:srgbClr val="B4C2D6"/>
                </a:solidFill>
                <a:latin typeface="Aptos"/>
              </a:rPr>
              <a:t>A phishing attempt sent by SMS or text message, often with a link.</a:t>
            </a:r>
          </a:p>
        </p:txBody>
      </p:sp>
      <p:sp>
        <p:nvSpPr>
          <p:cNvPr id="17" name="Rounded Rectangle 16"/>
          <p:cNvSpPr/>
          <p:nvPr/>
        </p:nvSpPr>
        <p:spPr>
          <a:xfrm>
            <a:off x="6217920" y="3611880"/>
            <a:ext cx="5257800" cy="1417320"/>
          </a:xfrm>
          <a:prstGeom prst="roundRect">
            <a:avLst/>
          </a:prstGeom>
          <a:solidFill>
            <a:srgbClr val="14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7920" y="3611880"/>
            <a:ext cx="73152" cy="1417320"/>
          </a:xfrm>
          <a:prstGeom prst="rect">
            <a:avLst/>
          </a:prstGeom>
          <a:solidFill>
            <a:srgbClr val="F56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3794760"/>
            <a:ext cx="4846320" cy="365760"/>
          </a:xfrm>
          <a:prstGeom prst="rect">
            <a:avLst/>
          </a:prstGeom>
          <a:noFill/>
        </p:spPr>
        <p:txBody>
          <a:bodyPr wrap="square" lIns="45720" rIns="45720" anchor="t">
            <a:spAutoFit/>
          </a:bodyPr>
          <a:lstStyle/>
          <a:p>
            <a:pPr algn="l">
              <a:spcAft>
                <a:spcPts val="300"/>
              </a:spcAft>
            </a:pPr>
            <a:r>
              <a:rPr sz="1700" b="1">
                <a:solidFill>
                  <a:srgbClr val="F5F8FC"/>
                </a:solidFill>
                <a:latin typeface="Aptos"/>
              </a:rPr>
              <a:t>VISHING</a:t>
            </a:r>
          </a:p>
        </p:txBody>
      </p:sp>
      <p:sp>
        <p:nvSpPr>
          <p:cNvPr id="20" name="TextBox 19"/>
          <p:cNvSpPr txBox="1"/>
          <p:nvPr/>
        </p:nvSpPr>
        <p:spPr>
          <a:xfrm>
            <a:off x="6446520" y="4270248"/>
            <a:ext cx="4846320" cy="640080"/>
          </a:xfrm>
          <a:prstGeom prst="rect">
            <a:avLst/>
          </a:prstGeom>
          <a:noFill/>
        </p:spPr>
        <p:txBody>
          <a:bodyPr wrap="square" lIns="45720" rIns="45720" anchor="t">
            <a:spAutoFit/>
          </a:bodyPr>
          <a:lstStyle/>
          <a:p>
            <a:pPr algn="l">
              <a:spcAft>
                <a:spcPts val="300"/>
              </a:spcAft>
            </a:pPr>
            <a:r>
              <a:rPr sz="1300" b="0">
                <a:solidFill>
                  <a:srgbClr val="B4C2D6"/>
                </a:solidFill>
                <a:latin typeface="Aptos"/>
              </a:rPr>
              <a:t>A voice call that impersonates a bank, support agent, employer, or official.</a:t>
            </a:r>
          </a:p>
        </p:txBody>
      </p:sp>
      <p:sp>
        <p:nvSpPr>
          <p:cNvPr id="21" name="TextBox 20"/>
          <p:cNvSpPr txBox="1"/>
          <p:nvPr/>
        </p:nvSpPr>
        <p:spPr>
          <a:xfrm>
            <a:off x="822960" y="5440680"/>
            <a:ext cx="10607040" cy="502920"/>
          </a:xfrm>
          <a:prstGeom prst="rect">
            <a:avLst/>
          </a:prstGeom>
          <a:noFill/>
        </p:spPr>
        <p:txBody>
          <a:bodyPr wrap="square" lIns="45720" rIns="45720" anchor="t">
            <a:spAutoFit/>
          </a:bodyPr>
          <a:lstStyle/>
          <a:p>
            <a:pPr algn="l">
              <a:spcAft>
                <a:spcPts val="300"/>
              </a:spcAft>
            </a:pPr>
            <a:r>
              <a:rPr sz="1300" b="0">
                <a:solidFill>
                  <a:srgbClr val="B4C2D6"/>
                </a:solidFill>
                <a:latin typeface="Aptos"/>
              </a:rPr>
              <a:t>Related technique: Business Email Compromise (BEC) uses impersonation and convincing business requests to redirect payments or steal information.</a:t>
            </a:r>
          </a:p>
        </p:txBody>
      </p:sp>
      <p:sp>
        <p:nvSpPr>
          <p:cNvPr id="22" name="TextBox 21"/>
          <p:cNvSpPr txBox="1"/>
          <p:nvPr/>
        </p:nvSpPr>
        <p:spPr>
          <a:xfrm>
            <a:off x="594360" y="6510528"/>
            <a:ext cx="6400800" cy="164592"/>
          </a:xfrm>
          <a:prstGeom prst="rect">
            <a:avLst/>
          </a:prstGeom>
          <a:noFill/>
        </p:spPr>
        <p:txBody>
          <a:bodyPr wrap="square" lIns="45720" rIns="45720" anchor="t">
            <a:spAutoFit/>
          </a:bodyPr>
          <a:lstStyle/>
          <a:p>
            <a:pPr algn="l">
              <a:spcAft>
                <a:spcPts val="300"/>
              </a:spcAft>
            </a:pPr>
            <a:r>
              <a:rPr sz="800" b="1">
                <a:solidFill>
                  <a:srgbClr val="B4C2D6"/>
                </a:solidFill>
                <a:latin typeface="Aptos"/>
              </a:rPr>
              <a:t>CODEALPHA  •  PHISHING AWARENESS</a:t>
            </a:r>
          </a:p>
        </p:txBody>
      </p:sp>
      <p:sp>
        <p:nvSpPr>
          <p:cNvPr id="23" name="TextBox 22"/>
          <p:cNvSpPr txBox="1"/>
          <p:nvPr/>
        </p:nvSpPr>
        <p:spPr>
          <a:xfrm>
            <a:off x="11247120" y="6473952"/>
            <a:ext cx="320040" cy="201168"/>
          </a:xfrm>
          <a:prstGeom prst="rect">
            <a:avLst/>
          </a:prstGeom>
          <a:noFill/>
        </p:spPr>
        <p:txBody>
          <a:bodyPr wrap="square" lIns="45720" rIns="45720" anchor="t">
            <a:spAutoFit/>
          </a:bodyPr>
          <a:lstStyle/>
          <a:p>
            <a:pPr algn="r">
              <a:spcAft>
                <a:spcPts val="300"/>
              </a:spcAft>
            </a:pPr>
            <a:r>
              <a:rPr sz="900" b="1">
                <a:solidFill>
                  <a:srgbClr val="44D2DC"/>
                </a:solidFill>
                <a:latin typeface="Apto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C1830"/>
        </a:solidFill>
        <a:effectLst/>
      </p:bgPr>
    </p:bg>
    <p:spTree>
      <p:nvGrpSpPr>
        <p:cNvPr id="1" name=""/>
        <p:cNvGrpSpPr/>
        <p:nvPr/>
      </p:nvGrpSpPr>
      <p:grpSpPr/>
      <p:sp>
        <p:nvSpPr>
          <p:cNvPr id="2" name="TextBox 1"/>
          <p:cNvSpPr txBox="1"/>
          <p:nvPr/>
        </p:nvSpPr>
        <p:spPr>
          <a:xfrm>
            <a:off x="594360" y="320040"/>
            <a:ext cx="5303520" cy="274320"/>
          </a:xfrm>
          <a:prstGeom prst="rect">
            <a:avLst/>
          </a:prstGeom>
          <a:noFill/>
        </p:spPr>
        <p:txBody>
          <a:bodyPr wrap="square" lIns="45720" rIns="45720" anchor="t">
            <a:spAutoFit/>
          </a:bodyPr>
          <a:lstStyle/>
          <a:p>
            <a:pPr algn="l">
              <a:spcAft>
                <a:spcPts val="300"/>
              </a:spcAft>
            </a:pPr>
            <a:r>
              <a:rPr sz="1000" b="1">
                <a:solidFill>
                  <a:srgbClr val="44D2DC"/>
                </a:solidFill>
                <a:latin typeface="Aptos"/>
              </a:rPr>
              <a:t>04  /  SPOT THE SIGNS</a:t>
            </a:r>
          </a:p>
        </p:txBody>
      </p:sp>
      <p:sp>
        <p:nvSpPr>
          <p:cNvPr id="3" name="TextBox 2"/>
          <p:cNvSpPr txBox="1"/>
          <p:nvPr/>
        </p:nvSpPr>
        <p:spPr>
          <a:xfrm>
            <a:off x="594360" y="749808"/>
            <a:ext cx="10972800" cy="594360"/>
          </a:xfrm>
          <a:prstGeom prst="rect">
            <a:avLst/>
          </a:prstGeom>
          <a:noFill/>
        </p:spPr>
        <p:txBody>
          <a:bodyPr wrap="square" lIns="45720" rIns="45720" anchor="t">
            <a:spAutoFit/>
          </a:bodyPr>
          <a:lstStyle/>
          <a:p>
            <a:pPr algn="l">
              <a:spcAft>
                <a:spcPts val="300"/>
              </a:spcAft>
            </a:pPr>
            <a:r>
              <a:rPr sz="2800" b="1">
                <a:solidFill>
                  <a:srgbClr val="F5F8FC"/>
                </a:solidFill>
                <a:latin typeface="Aptos"/>
              </a:rPr>
              <a:t>How to recognize a phishing email</a:t>
            </a:r>
          </a:p>
        </p:txBody>
      </p:sp>
      <p:sp>
        <p:nvSpPr>
          <p:cNvPr id="4" name="TextBox 3"/>
          <p:cNvSpPr txBox="1"/>
          <p:nvPr/>
        </p:nvSpPr>
        <p:spPr>
          <a:xfrm>
            <a:off x="621792" y="1371600"/>
            <a:ext cx="10789920" cy="384048"/>
          </a:xfrm>
          <a:prstGeom prst="rect">
            <a:avLst/>
          </a:prstGeom>
          <a:noFill/>
        </p:spPr>
        <p:txBody>
          <a:bodyPr wrap="square" lIns="45720" rIns="45720" anchor="t">
            <a:spAutoFit/>
          </a:bodyPr>
          <a:lstStyle/>
          <a:p>
            <a:pPr algn="l">
              <a:spcAft>
                <a:spcPts val="300"/>
              </a:spcAft>
            </a:pPr>
            <a:r>
              <a:rPr sz="1300" b="0">
                <a:solidFill>
                  <a:srgbClr val="B4C2D6"/>
                </a:solidFill>
                <a:latin typeface="Aptos"/>
              </a:rPr>
              <a:t>One clue may not prove a message is fake. Look for several warning signs and verify unusual requests.</a:t>
            </a:r>
          </a:p>
        </p:txBody>
      </p:sp>
      <p:sp>
        <p:nvSpPr>
          <p:cNvPr id="5" name="Rounded Rectangle 4"/>
          <p:cNvSpPr/>
          <p:nvPr/>
        </p:nvSpPr>
        <p:spPr>
          <a:xfrm>
            <a:off x="685800" y="1874519"/>
            <a:ext cx="5257800" cy="3337560"/>
          </a:xfrm>
          <a:prstGeom prst="roundRect">
            <a:avLst/>
          </a:prstGeom>
          <a:solidFill>
            <a:srgbClr val="14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1874519"/>
            <a:ext cx="73152" cy="3337560"/>
          </a:xfrm>
          <a:prstGeom prst="rect">
            <a:avLst/>
          </a:prstGeom>
          <a:solidFill>
            <a:srgbClr val="3075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57400"/>
            <a:ext cx="4846320" cy="365760"/>
          </a:xfrm>
          <a:prstGeom prst="rect">
            <a:avLst/>
          </a:prstGeom>
          <a:noFill/>
        </p:spPr>
        <p:txBody>
          <a:bodyPr wrap="square" lIns="45720" rIns="45720" anchor="t">
            <a:spAutoFit/>
          </a:bodyPr>
          <a:lstStyle/>
          <a:p>
            <a:pPr algn="l">
              <a:spcAft>
                <a:spcPts val="300"/>
              </a:spcAft>
            </a:pPr>
            <a:r>
              <a:rPr sz="1800" b="1">
                <a:solidFill>
                  <a:srgbClr val="F5F8FC"/>
                </a:solidFill>
                <a:latin typeface="Aptos"/>
              </a:rPr>
              <a:t>CHECK THE MESSAGE</a:t>
            </a:r>
          </a:p>
        </p:txBody>
      </p:sp>
      <p:sp>
        <p:nvSpPr>
          <p:cNvPr id="8" name="TextBox 7"/>
          <p:cNvSpPr txBox="1"/>
          <p:nvPr/>
        </p:nvSpPr>
        <p:spPr>
          <a:xfrm>
            <a:off x="914400" y="2532887"/>
            <a:ext cx="4846320" cy="2560320"/>
          </a:xfrm>
          <a:prstGeom prst="rect">
            <a:avLst/>
          </a:prstGeom>
          <a:noFill/>
        </p:spPr>
        <p:txBody>
          <a:bodyPr wrap="square" lIns="45720" rIns="45720" anchor="t">
            <a:spAutoFit/>
          </a:bodyPr>
          <a:lstStyle/>
          <a:p>
            <a:pPr algn="l">
              <a:spcAft>
                <a:spcPts val="300"/>
              </a:spcAft>
            </a:pPr>
            <a:r>
              <a:rPr sz="1500" b="0">
                <a:solidFill>
                  <a:srgbClr val="B4C2D6"/>
                </a:solidFill>
                <a:latin typeface="Aptos"/>
              </a:rPr>
              <a:t>• Sender address does not match the claimed organization
• Unexpected attachment or invoice
• Urgent threats: “Act now or your account closes”
• Requests for passwords, PINs, or verification codes
• Generic greeting or unusual wording</a:t>
            </a:r>
          </a:p>
        </p:txBody>
      </p:sp>
      <p:sp>
        <p:nvSpPr>
          <p:cNvPr id="9" name="Rounded Rectangle 8"/>
          <p:cNvSpPr/>
          <p:nvPr/>
        </p:nvSpPr>
        <p:spPr>
          <a:xfrm>
            <a:off x="6217920" y="1874519"/>
            <a:ext cx="5257800" cy="3337560"/>
          </a:xfrm>
          <a:prstGeom prst="roundRect">
            <a:avLst/>
          </a:prstGeom>
          <a:solidFill>
            <a:srgbClr val="14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1874519"/>
            <a:ext cx="73152" cy="3337560"/>
          </a:xfrm>
          <a:prstGeom prst="rect">
            <a:avLst/>
          </a:prstGeom>
          <a:solidFill>
            <a:srgbClr val="FFB1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2057400"/>
            <a:ext cx="4846320" cy="365760"/>
          </a:xfrm>
          <a:prstGeom prst="rect">
            <a:avLst/>
          </a:prstGeom>
          <a:noFill/>
        </p:spPr>
        <p:txBody>
          <a:bodyPr wrap="square" lIns="45720" rIns="45720" anchor="t">
            <a:spAutoFit/>
          </a:bodyPr>
          <a:lstStyle/>
          <a:p>
            <a:pPr algn="l">
              <a:spcAft>
                <a:spcPts val="300"/>
              </a:spcAft>
            </a:pPr>
            <a:r>
              <a:rPr sz="1800" b="1">
                <a:solidFill>
                  <a:srgbClr val="F5F8FC"/>
                </a:solidFill>
                <a:latin typeface="Aptos"/>
              </a:rPr>
              <a:t>CHECK BEFORE YOU CLICK</a:t>
            </a:r>
          </a:p>
        </p:txBody>
      </p:sp>
      <p:sp>
        <p:nvSpPr>
          <p:cNvPr id="12" name="TextBox 11"/>
          <p:cNvSpPr txBox="1"/>
          <p:nvPr/>
        </p:nvSpPr>
        <p:spPr>
          <a:xfrm>
            <a:off x="6446520" y="2532887"/>
            <a:ext cx="4846320" cy="2560320"/>
          </a:xfrm>
          <a:prstGeom prst="rect">
            <a:avLst/>
          </a:prstGeom>
          <a:noFill/>
        </p:spPr>
        <p:txBody>
          <a:bodyPr wrap="square" lIns="45720" rIns="45720" anchor="t">
            <a:spAutoFit/>
          </a:bodyPr>
          <a:lstStyle/>
          <a:p>
            <a:pPr algn="l">
              <a:spcAft>
                <a:spcPts val="300"/>
              </a:spcAft>
            </a:pPr>
            <a:r>
              <a:rPr sz="1500" b="0">
                <a:solidFill>
                  <a:srgbClr val="B4C2D6"/>
                </a:solidFill>
                <a:latin typeface="Aptos"/>
              </a:rPr>
              <a:t>• Hover over a link on a computer to preview its destination
• Look for misspelled or lookalike domains
• Do not trust a logo or display name alone
• Be cautious even if grammar looks perfect
• Verify payment or account changes using a known contact method</a:t>
            </a:r>
          </a:p>
        </p:txBody>
      </p:sp>
      <p:sp>
        <p:nvSpPr>
          <p:cNvPr id="13" name="TextBox 12"/>
          <p:cNvSpPr txBox="1"/>
          <p:nvPr/>
        </p:nvSpPr>
        <p:spPr>
          <a:xfrm>
            <a:off x="868680" y="5532120"/>
            <a:ext cx="10332720" cy="411480"/>
          </a:xfrm>
          <a:prstGeom prst="rect">
            <a:avLst/>
          </a:prstGeom>
          <a:noFill/>
        </p:spPr>
        <p:txBody>
          <a:bodyPr wrap="square" lIns="45720" rIns="45720" anchor="t">
            <a:spAutoFit/>
          </a:bodyPr>
          <a:lstStyle/>
          <a:p>
            <a:pPr algn="l">
              <a:spcAft>
                <a:spcPts val="300"/>
              </a:spcAft>
            </a:pPr>
            <a:r>
              <a:rPr sz="1500" b="1">
                <a:solidFill>
                  <a:srgbClr val="F5606A"/>
                </a:solidFill>
                <a:latin typeface="Aptos"/>
              </a:rPr>
              <a:t>Example warning: “Your account will be blocked in 10 minutes. Sign in here to confirm your password.”</a:t>
            </a:r>
          </a:p>
        </p:txBody>
      </p:sp>
      <p:sp>
        <p:nvSpPr>
          <p:cNvPr id="14" name="TextBox 13"/>
          <p:cNvSpPr txBox="1"/>
          <p:nvPr/>
        </p:nvSpPr>
        <p:spPr>
          <a:xfrm>
            <a:off x="594360" y="6510528"/>
            <a:ext cx="6400800" cy="164592"/>
          </a:xfrm>
          <a:prstGeom prst="rect">
            <a:avLst/>
          </a:prstGeom>
          <a:noFill/>
        </p:spPr>
        <p:txBody>
          <a:bodyPr wrap="square" lIns="45720" rIns="45720" anchor="t">
            <a:spAutoFit/>
          </a:bodyPr>
          <a:lstStyle/>
          <a:p>
            <a:pPr algn="l">
              <a:spcAft>
                <a:spcPts val="300"/>
              </a:spcAft>
            </a:pPr>
            <a:r>
              <a:rPr sz="800" b="1">
                <a:solidFill>
                  <a:srgbClr val="B4C2D6"/>
                </a:solidFill>
                <a:latin typeface="Aptos"/>
              </a:rPr>
              <a:t>CODEALPHA  •  PHISHING AWARENESS</a:t>
            </a:r>
          </a:p>
        </p:txBody>
      </p:sp>
      <p:sp>
        <p:nvSpPr>
          <p:cNvPr id="15" name="TextBox 14"/>
          <p:cNvSpPr txBox="1"/>
          <p:nvPr/>
        </p:nvSpPr>
        <p:spPr>
          <a:xfrm>
            <a:off x="11247120" y="6473952"/>
            <a:ext cx="320040" cy="201168"/>
          </a:xfrm>
          <a:prstGeom prst="rect">
            <a:avLst/>
          </a:prstGeom>
          <a:noFill/>
        </p:spPr>
        <p:txBody>
          <a:bodyPr wrap="square" lIns="45720" rIns="45720" anchor="t">
            <a:spAutoFit/>
          </a:bodyPr>
          <a:lstStyle/>
          <a:p>
            <a:pPr algn="r">
              <a:spcAft>
                <a:spcPts val="300"/>
              </a:spcAft>
            </a:pPr>
            <a:r>
              <a:rPr sz="900" b="1">
                <a:solidFill>
                  <a:srgbClr val="44D2DC"/>
                </a:solidFill>
                <a:latin typeface="Aptos"/>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C1830"/>
        </a:solidFill>
        <a:effectLst/>
      </p:bgPr>
    </p:bg>
    <p:spTree>
      <p:nvGrpSpPr>
        <p:cNvPr id="1" name=""/>
        <p:cNvGrpSpPr/>
        <p:nvPr/>
      </p:nvGrpSpPr>
      <p:grpSpPr/>
      <p:sp>
        <p:nvSpPr>
          <p:cNvPr id="2" name="TextBox 1"/>
          <p:cNvSpPr txBox="1"/>
          <p:nvPr/>
        </p:nvSpPr>
        <p:spPr>
          <a:xfrm>
            <a:off x="594360" y="320040"/>
            <a:ext cx="5303520" cy="274320"/>
          </a:xfrm>
          <a:prstGeom prst="rect">
            <a:avLst/>
          </a:prstGeom>
          <a:noFill/>
        </p:spPr>
        <p:txBody>
          <a:bodyPr wrap="square" lIns="45720" rIns="45720" anchor="t">
            <a:spAutoFit/>
          </a:bodyPr>
          <a:lstStyle/>
          <a:p>
            <a:pPr algn="l">
              <a:spcAft>
                <a:spcPts val="300"/>
              </a:spcAft>
            </a:pPr>
            <a:r>
              <a:rPr sz="1000" b="1">
                <a:solidFill>
                  <a:srgbClr val="44D2DC"/>
                </a:solidFill>
                <a:latin typeface="Aptos"/>
              </a:rPr>
              <a:t>05  /  CHECK THE DESTINATION</a:t>
            </a:r>
          </a:p>
        </p:txBody>
      </p:sp>
      <p:sp>
        <p:nvSpPr>
          <p:cNvPr id="3" name="TextBox 2"/>
          <p:cNvSpPr txBox="1"/>
          <p:nvPr/>
        </p:nvSpPr>
        <p:spPr>
          <a:xfrm>
            <a:off x="594360" y="749808"/>
            <a:ext cx="10972800" cy="594360"/>
          </a:xfrm>
          <a:prstGeom prst="rect">
            <a:avLst/>
          </a:prstGeom>
          <a:noFill/>
        </p:spPr>
        <p:txBody>
          <a:bodyPr wrap="square" lIns="45720" rIns="45720" anchor="t">
            <a:spAutoFit/>
          </a:bodyPr>
          <a:lstStyle/>
          <a:p>
            <a:pPr algn="l">
              <a:spcAft>
                <a:spcPts val="300"/>
              </a:spcAft>
            </a:pPr>
            <a:r>
              <a:rPr sz="2800" b="1">
                <a:solidFill>
                  <a:srgbClr val="F5F8FC"/>
                </a:solidFill>
                <a:latin typeface="Aptos"/>
              </a:rPr>
              <a:t>How to spot a fake website</a:t>
            </a:r>
          </a:p>
        </p:txBody>
      </p:sp>
      <p:sp>
        <p:nvSpPr>
          <p:cNvPr id="4" name="TextBox 3"/>
          <p:cNvSpPr txBox="1"/>
          <p:nvPr/>
        </p:nvSpPr>
        <p:spPr>
          <a:xfrm>
            <a:off x="621792" y="1371600"/>
            <a:ext cx="10789920" cy="384048"/>
          </a:xfrm>
          <a:prstGeom prst="rect">
            <a:avLst/>
          </a:prstGeom>
          <a:noFill/>
        </p:spPr>
        <p:txBody>
          <a:bodyPr wrap="square" lIns="45720" rIns="45720" anchor="t">
            <a:spAutoFit/>
          </a:bodyPr>
          <a:lstStyle/>
          <a:p>
            <a:pPr algn="l">
              <a:spcAft>
                <a:spcPts val="300"/>
              </a:spcAft>
            </a:pPr>
            <a:r>
              <a:rPr sz="1300" b="0">
                <a:solidFill>
                  <a:srgbClr val="B4C2D6"/>
                </a:solidFill>
                <a:latin typeface="Aptos"/>
              </a:rPr>
              <a:t>A convincing design does not guarantee that a website is genuine.</a:t>
            </a:r>
          </a:p>
        </p:txBody>
      </p:sp>
      <p:sp>
        <p:nvSpPr>
          <p:cNvPr id="5" name="Rounded Rectangle 4"/>
          <p:cNvSpPr/>
          <p:nvPr/>
        </p:nvSpPr>
        <p:spPr>
          <a:xfrm>
            <a:off x="685800" y="1965960"/>
            <a:ext cx="3474720" cy="2468880"/>
          </a:xfrm>
          <a:prstGeom prst="roundRect">
            <a:avLst/>
          </a:prstGeom>
          <a:solidFill>
            <a:srgbClr val="14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1965960"/>
            <a:ext cx="73152" cy="2468880"/>
          </a:xfrm>
          <a:prstGeom prst="rect">
            <a:avLst/>
          </a:prstGeom>
          <a:solidFill>
            <a:srgbClr val="3075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148840"/>
            <a:ext cx="3063239" cy="365760"/>
          </a:xfrm>
          <a:prstGeom prst="rect">
            <a:avLst/>
          </a:prstGeom>
          <a:noFill/>
        </p:spPr>
        <p:txBody>
          <a:bodyPr wrap="square" lIns="45720" rIns="45720" anchor="t">
            <a:spAutoFit/>
          </a:bodyPr>
          <a:lstStyle/>
          <a:p>
            <a:pPr algn="l">
              <a:spcAft>
                <a:spcPts val="300"/>
              </a:spcAft>
            </a:pPr>
            <a:r>
              <a:rPr sz="1700" b="1">
                <a:solidFill>
                  <a:srgbClr val="F5F8FC"/>
                </a:solidFill>
                <a:latin typeface="Aptos"/>
              </a:rPr>
              <a:t>LOOKALIKE DOMAINS</a:t>
            </a:r>
          </a:p>
        </p:txBody>
      </p:sp>
      <p:sp>
        <p:nvSpPr>
          <p:cNvPr id="8" name="TextBox 7"/>
          <p:cNvSpPr txBox="1"/>
          <p:nvPr/>
        </p:nvSpPr>
        <p:spPr>
          <a:xfrm>
            <a:off x="914400" y="2624328"/>
            <a:ext cx="3063239" cy="1691640"/>
          </a:xfrm>
          <a:prstGeom prst="rect">
            <a:avLst/>
          </a:prstGeom>
          <a:noFill/>
        </p:spPr>
        <p:txBody>
          <a:bodyPr wrap="square" lIns="45720" rIns="45720" anchor="t">
            <a:spAutoFit/>
          </a:bodyPr>
          <a:lstStyle/>
          <a:p>
            <a:pPr algn="l">
              <a:spcAft>
                <a:spcPts val="300"/>
              </a:spcAft>
            </a:pPr>
            <a:r>
              <a:rPr sz="1400" b="0">
                <a:solidFill>
                  <a:srgbClr val="B4C2D6"/>
                </a:solidFill>
                <a:latin typeface="Aptos"/>
              </a:rPr>
              <a:t>Example: paypaI.example
A fake domain may replace a letter with a similar-looking character. The example is illustrative, not a real website.</a:t>
            </a:r>
          </a:p>
        </p:txBody>
      </p:sp>
      <p:sp>
        <p:nvSpPr>
          <p:cNvPr id="9" name="Rounded Rectangle 8"/>
          <p:cNvSpPr/>
          <p:nvPr/>
        </p:nvSpPr>
        <p:spPr>
          <a:xfrm>
            <a:off x="4370832" y="1965960"/>
            <a:ext cx="3474720" cy="2468880"/>
          </a:xfrm>
          <a:prstGeom prst="roundRect">
            <a:avLst/>
          </a:prstGeom>
          <a:solidFill>
            <a:srgbClr val="14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70832" y="1965960"/>
            <a:ext cx="73152" cy="2468880"/>
          </a:xfrm>
          <a:prstGeom prst="rect">
            <a:avLst/>
          </a:prstGeom>
          <a:solidFill>
            <a:srgbClr val="FFB1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9432" y="2148840"/>
            <a:ext cx="3063239" cy="365760"/>
          </a:xfrm>
          <a:prstGeom prst="rect">
            <a:avLst/>
          </a:prstGeom>
          <a:noFill/>
        </p:spPr>
        <p:txBody>
          <a:bodyPr wrap="square" lIns="45720" rIns="45720" anchor="t">
            <a:spAutoFit/>
          </a:bodyPr>
          <a:lstStyle/>
          <a:p>
            <a:pPr algn="l">
              <a:spcAft>
                <a:spcPts val="300"/>
              </a:spcAft>
            </a:pPr>
            <a:r>
              <a:rPr sz="1700" b="1">
                <a:solidFill>
                  <a:srgbClr val="F5F8FC"/>
                </a:solidFill>
                <a:latin typeface="Aptos"/>
              </a:rPr>
              <a:t>UNEXPECTED LOGIN</a:t>
            </a:r>
          </a:p>
        </p:txBody>
      </p:sp>
      <p:sp>
        <p:nvSpPr>
          <p:cNvPr id="12" name="TextBox 11"/>
          <p:cNvSpPr txBox="1"/>
          <p:nvPr/>
        </p:nvSpPr>
        <p:spPr>
          <a:xfrm>
            <a:off x="4599432" y="2624328"/>
            <a:ext cx="3063239" cy="1691640"/>
          </a:xfrm>
          <a:prstGeom prst="rect">
            <a:avLst/>
          </a:prstGeom>
          <a:noFill/>
        </p:spPr>
        <p:txBody>
          <a:bodyPr wrap="square" lIns="45720" rIns="45720" anchor="t">
            <a:spAutoFit/>
          </a:bodyPr>
          <a:lstStyle/>
          <a:p>
            <a:pPr algn="l">
              <a:spcAft>
                <a:spcPts val="300"/>
              </a:spcAft>
            </a:pPr>
            <a:r>
              <a:rPr sz="1400" b="0">
                <a:solidFill>
                  <a:srgbClr val="B4C2D6"/>
                </a:solidFill>
                <a:latin typeface="Aptos"/>
              </a:rPr>
              <a:t>A link in a message takes you to a login page you did not expect, asking for your password or one-time code.</a:t>
            </a:r>
          </a:p>
        </p:txBody>
      </p:sp>
      <p:sp>
        <p:nvSpPr>
          <p:cNvPr id="13" name="Rounded Rectangle 12"/>
          <p:cNvSpPr/>
          <p:nvPr/>
        </p:nvSpPr>
        <p:spPr>
          <a:xfrm>
            <a:off x="8065008" y="1965960"/>
            <a:ext cx="3474720" cy="2468880"/>
          </a:xfrm>
          <a:prstGeom prst="roundRect">
            <a:avLst/>
          </a:prstGeom>
          <a:solidFill>
            <a:srgbClr val="14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5008" y="1965960"/>
            <a:ext cx="73152" cy="2468880"/>
          </a:xfrm>
          <a:prstGeom prst="rect">
            <a:avLst/>
          </a:prstGeom>
          <a:solidFill>
            <a:srgbClr val="F56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93608" y="2148840"/>
            <a:ext cx="3063239" cy="365760"/>
          </a:xfrm>
          <a:prstGeom prst="rect">
            <a:avLst/>
          </a:prstGeom>
          <a:noFill/>
        </p:spPr>
        <p:txBody>
          <a:bodyPr wrap="square" lIns="45720" rIns="45720" anchor="t">
            <a:spAutoFit/>
          </a:bodyPr>
          <a:lstStyle/>
          <a:p>
            <a:pPr algn="l">
              <a:spcAft>
                <a:spcPts val="300"/>
              </a:spcAft>
            </a:pPr>
            <a:r>
              <a:rPr sz="1700" b="1">
                <a:solidFill>
                  <a:srgbClr val="F5F8FC"/>
                </a:solidFill>
                <a:latin typeface="Aptos"/>
              </a:rPr>
              <a:t>PRESSURE TO PAY</a:t>
            </a:r>
          </a:p>
        </p:txBody>
      </p:sp>
      <p:sp>
        <p:nvSpPr>
          <p:cNvPr id="16" name="TextBox 15"/>
          <p:cNvSpPr txBox="1"/>
          <p:nvPr/>
        </p:nvSpPr>
        <p:spPr>
          <a:xfrm>
            <a:off x="8293608" y="2624328"/>
            <a:ext cx="3063239" cy="1691640"/>
          </a:xfrm>
          <a:prstGeom prst="rect">
            <a:avLst/>
          </a:prstGeom>
          <a:noFill/>
        </p:spPr>
        <p:txBody>
          <a:bodyPr wrap="square" lIns="45720" rIns="45720" anchor="t">
            <a:spAutoFit/>
          </a:bodyPr>
          <a:lstStyle/>
          <a:p>
            <a:pPr algn="l">
              <a:spcAft>
                <a:spcPts val="300"/>
              </a:spcAft>
            </a:pPr>
            <a:r>
              <a:rPr sz="1400" b="0">
                <a:solidFill>
                  <a:srgbClr val="B4C2D6"/>
                </a:solidFill>
                <a:latin typeface="Aptos"/>
              </a:rPr>
              <a:t>A site demands immediate payment, unusual gift cards, cryptocurrency, or sensitive details to “unlock” an account.</a:t>
            </a:r>
          </a:p>
        </p:txBody>
      </p:sp>
      <p:sp>
        <p:nvSpPr>
          <p:cNvPr id="17" name="Rounded Rectangle 16"/>
          <p:cNvSpPr/>
          <p:nvPr/>
        </p:nvSpPr>
        <p:spPr>
          <a:xfrm>
            <a:off x="777240" y="4892040"/>
            <a:ext cx="10561320" cy="731520"/>
          </a:xfrm>
          <a:prstGeom prst="roundRect">
            <a:avLst/>
          </a:prstGeom>
          <a:solidFill>
            <a:srgbClr val="14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5102352"/>
            <a:ext cx="1280160" cy="228600"/>
          </a:xfrm>
          <a:prstGeom prst="rect">
            <a:avLst/>
          </a:prstGeom>
          <a:noFill/>
        </p:spPr>
        <p:txBody>
          <a:bodyPr wrap="square" lIns="45720" rIns="45720" anchor="t">
            <a:spAutoFit/>
          </a:bodyPr>
          <a:lstStyle/>
          <a:p>
            <a:pPr algn="l">
              <a:spcAft>
                <a:spcPts val="300"/>
              </a:spcAft>
            </a:pPr>
            <a:r>
              <a:rPr sz="1400" b="1">
                <a:solidFill>
                  <a:srgbClr val="44D2DC"/>
                </a:solidFill>
                <a:latin typeface="Aptos"/>
              </a:rPr>
              <a:t>Safer habit:</a:t>
            </a:r>
          </a:p>
        </p:txBody>
      </p:sp>
      <p:sp>
        <p:nvSpPr>
          <p:cNvPr id="19" name="TextBox 18"/>
          <p:cNvSpPr txBox="1"/>
          <p:nvPr/>
        </p:nvSpPr>
        <p:spPr>
          <a:xfrm>
            <a:off x="2240280" y="5056632"/>
            <a:ext cx="8686800" cy="320040"/>
          </a:xfrm>
          <a:prstGeom prst="rect">
            <a:avLst/>
          </a:prstGeom>
          <a:noFill/>
        </p:spPr>
        <p:txBody>
          <a:bodyPr wrap="square" lIns="45720" rIns="45720" anchor="t">
            <a:spAutoFit/>
          </a:bodyPr>
          <a:lstStyle/>
          <a:p>
            <a:pPr algn="l">
              <a:spcAft>
                <a:spcPts val="300"/>
              </a:spcAft>
            </a:pPr>
            <a:r>
              <a:rPr sz="1400" b="0">
                <a:solidFill>
                  <a:srgbClr val="F5F8FC"/>
                </a:solidFill>
                <a:latin typeface="Aptos"/>
              </a:rPr>
              <a:t>Open the official app or type a known website address yourself instead of using a message link.</a:t>
            </a:r>
          </a:p>
        </p:txBody>
      </p:sp>
      <p:sp>
        <p:nvSpPr>
          <p:cNvPr id="20" name="TextBox 19"/>
          <p:cNvSpPr txBox="1"/>
          <p:nvPr/>
        </p:nvSpPr>
        <p:spPr>
          <a:xfrm>
            <a:off x="594360" y="6510528"/>
            <a:ext cx="6400800" cy="164592"/>
          </a:xfrm>
          <a:prstGeom prst="rect">
            <a:avLst/>
          </a:prstGeom>
          <a:noFill/>
        </p:spPr>
        <p:txBody>
          <a:bodyPr wrap="square" lIns="45720" rIns="45720" anchor="t">
            <a:spAutoFit/>
          </a:bodyPr>
          <a:lstStyle/>
          <a:p>
            <a:pPr algn="l">
              <a:spcAft>
                <a:spcPts val="300"/>
              </a:spcAft>
            </a:pPr>
            <a:r>
              <a:rPr sz="800" b="1">
                <a:solidFill>
                  <a:srgbClr val="B4C2D6"/>
                </a:solidFill>
                <a:latin typeface="Aptos"/>
              </a:rPr>
              <a:t>CODEALPHA  •  PHISHING AWARENESS</a:t>
            </a:r>
          </a:p>
        </p:txBody>
      </p:sp>
      <p:sp>
        <p:nvSpPr>
          <p:cNvPr id="21" name="TextBox 20"/>
          <p:cNvSpPr txBox="1"/>
          <p:nvPr/>
        </p:nvSpPr>
        <p:spPr>
          <a:xfrm>
            <a:off x="11247120" y="6473952"/>
            <a:ext cx="320040" cy="201168"/>
          </a:xfrm>
          <a:prstGeom prst="rect">
            <a:avLst/>
          </a:prstGeom>
          <a:noFill/>
        </p:spPr>
        <p:txBody>
          <a:bodyPr wrap="square" lIns="45720" rIns="45720" anchor="t">
            <a:spAutoFit/>
          </a:bodyPr>
          <a:lstStyle/>
          <a:p>
            <a:pPr algn="r">
              <a:spcAft>
                <a:spcPts val="300"/>
              </a:spcAft>
            </a:pPr>
            <a:r>
              <a:rPr sz="900" b="1">
                <a:solidFill>
                  <a:srgbClr val="44D2DC"/>
                </a:solidFill>
                <a:latin typeface="Aptos"/>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C1830"/>
        </a:solidFill>
        <a:effectLst/>
      </p:bgPr>
    </p:bg>
    <p:spTree>
      <p:nvGrpSpPr>
        <p:cNvPr id="1" name=""/>
        <p:cNvGrpSpPr/>
        <p:nvPr/>
      </p:nvGrpSpPr>
      <p:grpSpPr/>
      <p:sp>
        <p:nvSpPr>
          <p:cNvPr id="2" name="TextBox 1"/>
          <p:cNvSpPr txBox="1"/>
          <p:nvPr/>
        </p:nvSpPr>
        <p:spPr>
          <a:xfrm>
            <a:off x="594360" y="320040"/>
            <a:ext cx="5303520" cy="274320"/>
          </a:xfrm>
          <a:prstGeom prst="rect">
            <a:avLst/>
          </a:prstGeom>
          <a:noFill/>
        </p:spPr>
        <p:txBody>
          <a:bodyPr wrap="square" lIns="45720" rIns="45720" anchor="t">
            <a:spAutoFit/>
          </a:bodyPr>
          <a:lstStyle/>
          <a:p>
            <a:pPr algn="l">
              <a:spcAft>
                <a:spcPts val="300"/>
              </a:spcAft>
            </a:pPr>
            <a:r>
              <a:rPr sz="1000" b="1">
                <a:solidFill>
                  <a:srgbClr val="44D2DC"/>
                </a:solidFill>
                <a:latin typeface="Aptos"/>
              </a:rPr>
              <a:t>06  /  UNDERSTAND THE MANIPULATION</a:t>
            </a:r>
          </a:p>
        </p:txBody>
      </p:sp>
      <p:sp>
        <p:nvSpPr>
          <p:cNvPr id="3" name="TextBox 2"/>
          <p:cNvSpPr txBox="1"/>
          <p:nvPr/>
        </p:nvSpPr>
        <p:spPr>
          <a:xfrm>
            <a:off x="594360" y="749808"/>
            <a:ext cx="10972800" cy="594360"/>
          </a:xfrm>
          <a:prstGeom prst="rect">
            <a:avLst/>
          </a:prstGeom>
          <a:noFill/>
        </p:spPr>
        <p:txBody>
          <a:bodyPr wrap="square" lIns="45720" rIns="45720" anchor="t">
            <a:spAutoFit/>
          </a:bodyPr>
          <a:lstStyle/>
          <a:p>
            <a:pPr algn="l">
              <a:spcAft>
                <a:spcPts val="300"/>
              </a:spcAft>
            </a:pPr>
            <a:r>
              <a:rPr sz="2800" b="1">
                <a:solidFill>
                  <a:srgbClr val="F5F8FC"/>
                </a:solidFill>
                <a:latin typeface="Aptos"/>
              </a:rPr>
              <a:t>Social engineering: the human side</a:t>
            </a:r>
          </a:p>
        </p:txBody>
      </p:sp>
      <p:sp>
        <p:nvSpPr>
          <p:cNvPr id="4" name="TextBox 3"/>
          <p:cNvSpPr txBox="1"/>
          <p:nvPr/>
        </p:nvSpPr>
        <p:spPr>
          <a:xfrm>
            <a:off x="621792" y="1371600"/>
            <a:ext cx="10789920" cy="384048"/>
          </a:xfrm>
          <a:prstGeom prst="rect">
            <a:avLst/>
          </a:prstGeom>
          <a:noFill/>
        </p:spPr>
        <p:txBody>
          <a:bodyPr wrap="square" lIns="45720" rIns="45720" anchor="t">
            <a:spAutoFit/>
          </a:bodyPr>
          <a:lstStyle/>
          <a:p>
            <a:pPr algn="l">
              <a:spcAft>
                <a:spcPts val="300"/>
              </a:spcAft>
            </a:pPr>
            <a:r>
              <a:rPr sz="1300" b="0">
                <a:solidFill>
                  <a:srgbClr val="B4C2D6"/>
                </a:solidFill>
                <a:latin typeface="Aptos"/>
              </a:rPr>
              <a:t>Attackers exploit emotions and trust to make a risky action feel normal.</a:t>
            </a:r>
          </a:p>
        </p:txBody>
      </p:sp>
      <p:sp>
        <p:nvSpPr>
          <p:cNvPr id="5" name="Rounded Rectangle 4"/>
          <p:cNvSpPr/>
          <p:nvPr/>
        </p:nvSpPr>
        <p:spPr>
          <a:xfrm>
            <a:off x="685800" y="1965960"/>
            <a:ext cx="3474720" cy="1371600"/>
          </a:xfrm>
          <a:prstGeom prst="roundRect">
            <a:avLst/>
          </a:prstGeom>
          <a:solidFill>
            <a:srgbClr val="14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1965960"/>
            <a:ext cx="73152" cy="1371600"/>
          </a:xfrm>
          <a:prstGeom prst="rect">
            <a:avLst/>
          </a:prstGeom>
          <a:solidFill>
            <a:srgbClr val="F56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148840"/>
            <a:ext cx="3063239" cy="365760"/>
          </a:xfrm>
          <a:prstGeom prst="rect">
            <a:avLst/>
          </a:prstGeom>
          <a:noFill/>
        </p:spPr>
        <p:txBody>
          <a:bodyPr wrap="square" lIns="45720" rIns="45720" anchor="t">
            <a:spAutoFit/>
          </a:bodyPr>
          <a:lstStyle/>
          <a:p>
            <a:pPr algn="l">
              <a:spcAft>
                <a:spcPts val="300"/>
              </a:spcAft>
            </a:pPr>
            <a:r>
              <a:rPr sz="1700" b="1">
                <a:solidFill>
                  <a:srgbClr val="F5F8FC"/>
                </a:solidFill>
                <a:latin typeface="Aptos"/>
              </a:rPr>
              <a:t>URGENCY</a:t>
            </a:r>
          </a:p>
        </p:txBody>
      </p:sp>
      <p:sp>
        <p:nvSpPr>
          <p:cNvPr id="8" name="TextBox 7"/>
          <p:cNvSpPr txBox="1"/>
          <p:nvPr/>
        </p:nvSpPr>
        <p:spPr>
          <a:xfrm>
            <a:off x="914400" y="2624328"/>
            <a:ext cx="3063239" cy="594360"/>
          </a:xfrm>
          <a:prstGeom prst="rect">
            <a:avLst/>
          </a:prstGeom>
          <a:noFill/>
        </p:spPr>
        <p:txBody>
          <a:bodyPr wrap="square" lIns="45720" rIns="45720" anchor="t">
            <a:spAutoFit/>
          </a:bodyPr>
          <a:lstStyle/>
          <a:p>
            <a:pPr algn="l">
              <a:spcAft>
                <a:spcPts val="300"/>
              </a:spcAft>
            </a:pPr>
            <a:r>
              <a:rPr sz="1400" b="0">
                <a:solidFill>
                  <a:srgbClr val="B4C2D6"/>
                </a:solidFill>
                <a:latin typeface="Aptos"/>
              </a:rPr>
              <a:t>“Do this in five minutes or lose access.”</a:t>
            </a:r>
          </a:p>
        </p:txBody>
      </p:sp>
      <p:sp>
        <p:nvSpPr>
          <p:cNvPr id="9" name="Rounded Rectangle 8"/>
          <p:cNvSpPr/>
          <p:nvPr/>
        </p:nvSpPr>
        <p:spPr>
          <a:xfrm>
            <a:off x="4370832" y="1965960"/>
            <a:ext cx="3474720" cy="1371600"/>
          </a:xfrm>
          <a:prstGeom prst="roundRect">
            <a:avLst/>
          </a:prstGeom>
          <a:solidFill>
            <a:srgbClr val="14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70832" y="1965960"/>
            <a:ext cx="73152" cy="1371600"/>
          </a:xfrm>
          <a:prstGeom prst="rect">
            <a:avLst/>
          </a:prstGeom>
          <a:solidFill>
            <a:srgbClr val="FFB1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9432" y="2148840"/>
            <a:ext cx="3063239" cy="365760"/>
          </a:xfrm>
          <a:prstGeom prst="rect">
            <a:avLst/>
          </a:prstGeom>
          <a:noFill/>
        </p:spPr>
        <p:txBody>
          <a:bodyPr wrap="square" lIns="45720" rIns="45720" anchor="t">
            <a:spAutoFit/>
          </a:bodyPr>
          <a:lstStyle/>
          <a:p>
            <a:pPr algn="l">
              <a:spcAft>
                <a:spcPts val="300"/>
              </a:spcAft>
            </a:pPr>
            <a:r>
              <a:rPr sz="1700" b="1">
                <a:solidFill>
                  <a:srgbClr val="F5F8FC"/>
                </a:solidFill>
                <a:latin typeface="Aptos"/>
              </a:rPr>
              <a:t>AUTHORITY</a:t>
            </a:r>
          </a:p>
        </p:txBody>
      </p:sp>
      <p:sp>
        <p:nvSpPr>
          <p:cNvPr id="12" name="TextBox 11"/>
          <p:cNvSpPr txBox="1"/>
          <p:nvPr/>
        </p:nvSpPr>
        <p:spPr>
          <a:xfrm>
            <a:off x="4599432" y="2624328"/>
            <a:ext cx="3063239" cy="594360"/>
          </a:xfrm>
          <a:prstGeom prst="rect">
            <a:avLst/>
          </a:prstGeom>
          <a:noFill/>
        </p:spPr>
        <p:txBody>
          <a:bodyPr wrap="square" lIns="45720" rIns="45720" anchor="t">
            <a:spAutoFit/>
          </a:bodyPr>
          <a:lstStyle/>
          <a:p>
            <a:pPr algn="l">
              <a:spcAft>
                <a:spcPts val="300"/>
              </a:spcAft>
            </a:pPr>
            <a:r>
              <a:rPr sz="1400" b="0">
                <a:solidFill>
                  <a:srgbClr val="B4C2D6"/>
                </a:solidFill>
                <a:latin typeface="Aptos"/>
              </a:rPr>
              <a:t>“I’m your manager. Send the file now.”</a:t>
            </a:r>
          </a:p>
        </p:txBody>
      </p:sp>
      <p:sp>
        <p:nvSpPr>
          <p:cNvPr id="13" name="Rounded Rectangle 12"/>
          <p:cNvSpPr/>
          <p:nvPr/>
        </p:nvSpPr>
        <p:spPr>
          <a:xfrm>
            <a:off x="8065008" y="1965960"/>
            <a:ext cx="3474720" cy="1371600"/>
          </a:xfrm>
          <a:prstGeom prst="roundRect">
            <a:avLst/>
          </a:prstGeom>
          <a:solidFill>
            <a:srgbClr val="14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5008" y="1965960"/>
            <a:ext cx="73152" cy="1371600"/>
          </a:xfrm>
          <a:prstGeom prst="rect">
            <a:avLst/>
          </a:prstGeom>
          <a:solidFill>
            <a:srgbClr val="3075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93608" y="2148840"/>
            <a:ext cx="3063239" cy="365760"/>
          </a:xfrm>
          <a:prstGeom prst="rect">
            <a:avLst/>
          </a:prstGeom>
          <a:noFill/>
        </p:spPr>
        <p:txBody>
          <a:bodyPr wrap="square" lIns="45720" rIns="45720" anchor="t">
            <a:spAutoFit/>
          </a:bodyPr>
          <a:lstStyle/>
          <a:p>
            <a:pPr algn="l">
              <a:spcAft>
                <a:spcPts val="300"/>
              </a:spcAft>
            </a:pPr>
            <a:r>
              <a:rPr sz="1700" b="1">
                <a:solidFill>
                  <a:srgbClr val="F5F8FC"/>
                </a:solidFill>
                <a:latin typeface="Aptos"/>
              </a:rPr>
              <a:t>FEAR</a:t>
            </a:r>
          </a:p>
        </p:txBody>
      </p:sp>
      <p:sp>
        <p:nvSpPr>
          <p:cNvPr id="16" name="TextBox 15"/>
          <p:cNvSpPr txBox="1"/>
          <p:nvPr/>
        </p:nvSpPr>
        <p:spPr>
          <a:xfrm>
            <a:off x="8293608" y="2624328"/>
            <a:ext cx="3063239" cy="594360"/>
          </a:xfrm>
          <a:prstGeom prst="rect">
            <a:avLst/>
          </a:prstGeom>
          <a:noFill/>
        </p:spPr>
        <p:txBody>
          <a:bodyPr wrap="square" lIns="45720" rIns="45720" anchor="t">
            <a:spAutoFit/>
          </a:bodyPr>
          <a:lstStyle/>
          <a:p>
            <a:pPr algn="l">
              <a:spcAft>
                <a:spcPts val="300"/>
              </a:spcAft>
            </a:pPr>
            <a:r>
              <a:rPr sz="1400" b="0">
                <a:solidFill>
                  <a:srgbClr val="B4C2D6"/>
                </a:solidFill>
                <a:latin typeface="Aptos"/>
              </a:rPr>
              <a:t>“Your account has been compromised.”</a:t>
            </a:r>
          </a:p>
        </p:txBody>
      </p:sp>
      <p:sp>
        <p:nvSpPr>
          <p:cNvPr id="17" name="Rounded Rectangle 16"/>
          <p:cNvSpPr/>
          <p:nvPr/>
        </p:nvSpPr>
        <p:spPr>
          <a:xfrm>
            <a:off x="685800" y="3657600"/>
            <a:ext cx="3474720" cy="1371600"/>
          </a:xfrm>
          <a:prstGeom prst="roundRect">
            <a:avLst/>
          </a:prstGeom>
          <a:solidFill>
            <a:srgbClr val="14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85800" y="3657600"/>
            <a:ext cx="73152" cy="1371600"/>
          </a:xfrm>
          <a:prstGeom prst="rect">
            <a:avLst/>
          </a:prstGeom>
          <a:solidFill>
            <a:srgbClr val="44D2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840480"/>
            <a:ext cx="3063239" cy="365760"/>
          </a:xfrm>
          <a:prstGeom prst="rect">
            <a:avLst/>
          </a:prstGeom>
          <a:noFill/>
        </p:spPr>
        <p:txBody>
          <a:bodyPr wrap="square" lIns="45720" rIns="45720" anchor="t">
            <a:spAutoFit/>
          </a:bodyPr>
          <a:lstStyle/>
          <a:p>
            <a:pPr algn="l">
              <a:spcAft>
                <a:spcPts val="300"/>
              </a:spcAft>
            </a:pPr>
            <a:r>
              <a:rPr sz="1700" b="1">
                <a:solidFill>
                  <a:srgbClr val="F5F8FC"/>
                </a:solidFill>
                <a:latin typeface="Aptos"/>
              </a:rPr>
              <a:t>CURIOSITY / REWARD</a:t>
            </a:r>
          </a:p>
        </p:txBody>
      </p:sp>
      <p:sp>
        <p:nvSpPr>
          <p:cNvPr id="20" name="TextBox 19"/>
          <p:cNvSpPr txBox="1"/>
          <p:nvPr/>
        </p:nvSpPr>
        <p:spPr>
          <a:xfrm>
            <a:off x="914400" y="4315968"/>
            <a:ext cx="3063239" cy="594360"/>
          </a:xfrm>
          <a:prstGeom prst="rect">
            <a:avLst/>
          </a:prstGeom>
          <a:noFill/>
        </p:spPr>
        <p:txBody>
          <a:bodyPr wrap="square" lIns="45720" rIns="45720" anchor="t">
            <a:spAutoFit/>
          </a:bodyPr>
          <a:lstStyle/>
          <a:p>
            <a:pPr algn="l">
              <a:spcAft>
                <a:spcPts val="300"/>
              </a:spcAft>
            </a:pPr>
            <a:r>
              <a:rPr sz="1400" b="0">
                <a:solidFill>
                  <a:srgbClr val="B4C2D6"/>
                </a:solidFill>
                <a:latin typeface="Aptos"/>
              </a:rPr>
              <a:t>“See your surprise gift” or “You won a prize.”</a:t>
            </a:r>
          </a:p>
        </p:txBody>
      </p:sp>
      <p:sp>
        <p:nvSpPr>
          <p:cNvPr id="21" name="Rounded Rectangle 20"/>
          <p:cNvSpPr/>
          <p:nvPr/>
        </p:nvSpPr>
        <p:spPr>
          <a:xfrm>
            <a:off x="4370832" y="3657600"/>
            <a:ext cx="3474720" cy="1371600"/>
          </a:xfrm>
          <a:prstGeom prst="roundRect">
            <a:avLst/>
          </a:prstGeom>
          <a:solidFill>
            <a:srgbClr val="14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70832" y="3657600"/>
            <a:ext cx="73152" cy="1371600"/>
          </a:xfrm>
          <a:prstGeom prst="rect">
            <a:avLst/>
          </a:prstGeom>
          <a:solidFill>
            <a:srgbClr val="55CD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99432" y="3840480"/>
            <a:ext cx="3063239" cy="365760"/>
          </a:xfrm>
          <a:prstGeom prst="rect">
            <a:avLst/>
          </a:prstGeom>
          <a:noFill/>
        </p:spPr>
        <p:txBody>
          <a:bodyPr wrap="square" lIns="45720" rIns="45720" anchor="t">
            <a:spAutoFit/>
          </a:bodyPr>
          <a:lstStyle/>
          <a:p>
            <a:pPr algn="l">
              <a:spcAft>
                <a:spcPts val="300"/>
              </a:spcAft>
            </a:pPr>
            <a:r>
              <a:rPr sz="1700" b="1">
                <a:solidFill>
                  <a:srgbClr val="F5F8FC"/>
                </a:solidFill>
                <a:latin typeface="Aptos"/>
              </a:rPr>
              <a:t>TRUST / FAMILIARITY</a:t>
            </a:r>
          </a:p>
        </p:txBody>
      </p:sp>
      <p:sp>
        <p:nvSpPr>
          <p:cNvPr id="24" name="TextBox 23"/>
          <p:cNvSpPr txBox="1"/>
          <p:nvPr/>
        </p:nvSpPr>
        <p:spPr>
          <a:xfrm>
            <a:off x="4599432" y="4315968"/>
            <a:ext cx="3063239" cy="594360"/>
          </a:xfrm>
          <a:prstGeom prst="rect">
            <a:avLst/>
          </a:prstGeom>
          <a:noFill/>
        </p:spPr>
        <p:txBody>
          <a:bodyPr wrap="square" lIns="45720" rIns="45720" anchor="t">
            <a:spAutoFit/>
          </a:bodyPr>
          <a:lstStyle/>
          <a:p>
            <a:pPr algn="l">
              <a:spcAft>
                <a:spcPts val="300"/>
              </a:spcAft>
            </a:pPr>
            <a:r>
              <a:rPr sz="1400" b="0">
                <a:solidFill>
                  <a:srgbClr val="B4C2D6"/>
                </a:solidFill>
                <a:latin typeface="Aptos"/>
              </a:rPr>
              <a:t>A message imitates a friend, colleague, supplier, or brand.</a:t>
            </a:r>
          </a:p>
        </p:txBody>
      </p:sp>
      <p:sp>
        <p:nvSpPr>
          <p:cNvPr id="25" name="Rounded Rectangle 24"/>
          <p:cNvSpPr/>
          <p:nvPr/>
        </p:nvSpPr>
        <p:spPr>
          <a:xfrm>
            <a:off x="8065008" y="3657600"/>
            <a:ext cx="3474720" cy="1371600"/>
          </a:xfrm>
          <a:prstGeom prst="roundRect">
            <a:avLst/>
          </a:prstGeom>
          <a:solidFill>
            <a:srgbClr val="14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065008" y="3657600"/>
            <a:ext cx="73152" cy="1371600"/>
          </a:xfrm>
          <a:prstGeom prst="rect">
            <a:avLst/>
          </a:prstGeom>
          <a:solidFill>
            <a:srgbClr val="F56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93608" y="3840480"/>
            <a:ext cx="3063239" cy="365760"/>
          </a:xfrm>
          <a:prstGeom prst="rect">
            <a:avLst/>
          </a:prstGeom>
          <a:noFill/>
        </p:spPr>
        <p:txBody>
          <a:bodyPr wrap="square" lIns="45720" rIns="45720" anchor="t">
            <a:spAutoFit/>
          </a:bodyPr>
          <a:lstStyle/>
          <a:p>
            <a:pPr algn="l">
              <a:spcAft>
                <a:spcPts val="300"/>
              </a:spcAft>
            </a:pPr>
            <a:r>
              <a:rPr sz="1700" b="1">
                <a:solidFill>
                  <a:srgbClr val="F5F8FC"/>
                </a:solidFill>
                <a:latin typeface="Aptos"/>
              </a:rPr>
              <a:t>SECRECY</a:t>
            </a:r>
          </a:p>
        </p:txBody>
      </p:sp>
      <p:sp>
        <p:nvSpPr>
          <p:cNvPr id="28" name="TextBox 27"/>
          <p:cNvSpPr txBox="1"/>
          <p:nvPr/>
        </p:nvSpPr>
        <p:spPr>
          <a:xfrm>
            <a:off x="8293608" y="4315968"/>
            <a:ext cx="3063239" cy="594360"/>
          </a:xfrm>
          <a:prstGeom prst="rect">
            <a:avLst/>
          </a:prstGeom>
          <a:noFill/>
        </p:spPr>
        <p:txBody>
          <a:bodyPr wrap="square" lIns="45720" rIns="45720" anchor="t">
            <a:spAutoFit/>
          </a:bodyPr>
          <a:lstStyle/>
          <a:p>
            <a:pPr algn="l">
              <a:spcAft>
                <a:spcPts val="300"/>
              </a:spcAft>
            </a:pPr>
            <a:r>
              <a:rPr sz="1400" b="0">
                <a:solidFill>
                  <a:srgbClr val="B4C2D6"/>
                </a:solidFill>
                <a:latin typeface="Aptos"/>
              </a:rPr>
              <a:t>“Keep this request confidential; don’t call me.”</a:t>
            </a:r>
          </a:p>
        </p:txBody>
      </p:sp>
      <p:sp>
        <p:nvSpPr>
          <p:cNvPr id="29" name="TextBox 28"/>
          <p:cNvSpPr txBox="1"/>
          <p:nvPr/>
        </p:nvSpPr>
        <p:spPr>
          <a:xfrm>
            <a:off x="822960" y="5486400"/>
            <a:ext cx="10698480" cy="320040"/>
          </a:xfrm>
          <a:prstGeom prst="rect">
            <a:avLst/>
          </a:prstGeom>
          <a:noFill/>
        </p:spPr>
        <p:txBody>
          <a:bodyPr wrap="square" lIns="45720" rIns="45720" anchor="t">
            <a:spAutoFit/>
          </a:bodyPr>
          <a:lstStyle/>
          <a:p>
            <a:pPr algn="ctr">
              <a:spcAft>
                <a:spcPts val="300"/>
              </a:spcAft>
            </a:pPr>
            <a:r>
              <a:rPr sz="1500" b="1">
                <a:solidFill>
                  <a:srgbClr val="F5F8FC"/>
                </a:solidFill>
                <a:latin typeface="Aptos"/>
              </a:rPr>
              <a:t>Pause when a message creates strong emotion or asks you to bypass normal procedures.</a:t>
            </a:r>
          </a:p>
        </p:txBody>
      </p:sp>
      <p:sp>
        <p:nvSpPr>
          <p:cNvPr id="30" name="TextBox 29"/>
          <p:cNvSpPr txBox="1"/>
          <p:nvPr/>
        </p:nvSpPr>
        <p:spPr>
          <a:xfrm>
            <a:off x="594360" y="6510528"/>
            <a:ext cx="6400800" cy="164592"/>
          </a:xfrm>
          <a:prstGeom prst="rect">
            <a:avLst/>
          </a:prstGeom>
          <a:noFill/>
        </p:spPr>
        <p:txBody>
          <a:bodyPr wrap="square" lIns="45720" rIns="45720" anchor="t">
            <a:spAutoFit/>
          </a:bodyPr>
          <a:lstStyle/>
          <a:p>
            <a:pPr algn="l">
              <a:spcAft>
                <a:spcPts val="300"/>
              </a:spcAft>
            </a:pPr>
            <a:r>
              <a:rPr sz="800" b="1">
                <a:solidFill>
                  <a:srgbClr val="B4C2D6"/>
                </a:solidFill>
                <a:latin typeface="Aptos"/>
              </a:rPr>
              <a:t>CODEALPHA  •  PHISHING AWARENESS</a:t>
            </a:r>
          </a:p>
        </p:txBody>
      </p:sp>
      <p:sp>
        <p:nvSpPr>
          <p:cNvPr id="31" name="TextBox 30"/>
          <p:cNvSpPr txBox="1"/>
          <p:nvPr/>
        </p:nvSpPr>
        <p:spPr>
          <a:xfrm>
            <a:off x="11247120" y="6473952"/>
            <a:ext cx="320040" cy="201168"/>
          </a:xfrm>
          <a:prstGeom prst="rect">
            <a:avLst/>
          </a:prstGeom>
          <a:noFill/>
        </p:spPr>
        <p:txBody>
          <a:bodyPr wrap="square" lIns="45720" rIns="45720" anchor="t">
            <a:spAutoFit/>
          </a:bodyPr>
          <a:lstStyle/>
          <a:p>
            <a:pPr algn="r">
              <a:spcAft>
                <a:spcPts val="300"/>
              </a:spcAft>
            </a:pPr>
            <a:r>
              <a:rPr sz="900" b="1">
                <a:solidFill>
                  <a:srgbClr val="44D2DC"/>
                </a:solidFill>
                <a:latin typeface="Aptos"/>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C1830"/>
        </a:solidFill>
        <a:effectLst/>
      </p:bgPr>
    </p:bg>
    <p:spTree>
      <p:nvGrpSpPr>
        <p:cNvPr id="1" name=""/>
        <p:cNvGrpSpPr/>
        <p:nvPr/>
      </p:nvGrpSpPr>
      <p:grpSpPr/>
      <p:sp>
        <p:nvSpPr>
          <p:cNvPr id="2" name="TextBox 1"/>
          <p:cNvSpPr txBox="1"/>
          <p:nvPr/>
        </p:nvSpPr>
        <p:spPr>
          <a:xfrm>
            <a:off x="594360" y="320040"/>
            <a:ext cx="5303520" cy="274320"/>
          </a:xfrm>
          <a:prstGeom prst="rect">
            <a:avLst/>
          </a:prstGeom>
          <a:noFill/>
        </p:spPr>
        <p:txBody>
          <a:bodyPr wrap="square" lIns="45720" rIns="45720" anchor="t">
            <a:spAutoFit/>
          </a:bodyPr>
          <a:lstStyle/>
          <a:p>
            <a:pPr algn="l">
              <a:spcAft>
                <a:spcPts val="300"/>
              </a:spcAft>
            </a:pPr>
            <a:r>
              <a:rPr sz="1000" b="1">
                <a:solidFill>
                  <a:srgbClr val="44D2DC"/>
                </a:solidFill>
                <a:latin typeface="Aptos"/>
              </a:rPr>
              <a:t>07  /  REAL-WORLD CASE</a:t>
            </a:r>
          </a:p>
        </p:txBody>
      </p:sp>
      <p:sp>
        <p:nvSpPr>
          <p:cNvPr id="3" name="TextBox 2"/>
          <p:cNvSpPr txBox="1"/>
          <p:nvPr/>
        </p:nvSpPr>
        <p:spPr>
          <a:xfrm>
            <a:off x="594360" y="749808"/>
            <a:ext cx="10972800" cy="594360"/>
          </a:xfrm>
          <a:prstGeom prst="rect">
            <a:avLst/>
          </a:prstGeom>
          <a:noFill/>
        </p:spPr>
        <p:txBody>
          <a:bodyPr wrap="square" lIns="45720" rIns="45720" anchor="t">
            <a:spAutoFit/>
          </a:bodyPr>
          <a:lstStyle/>
          <a:p>
            <a:pPr algn="l">
              <a:spcAft>
                <a:spcPts val="300"/>
              </a:spcAft>
            </a:pPr>
            <a:r>
              <a:rPr sz="2800" b="1">
                <a:solidFill>
                  <a:srgbClr val="F5F8FC"/>
                </a:solidFill>
                <a:latin typeface="Aptos"/>
              </a:rPr>
              <a:t>When vendor impersonation becomes costly</a:t>
            </a:r>
          </a:p>
        </p:txBody>
      </p:sp>
      <p:sp>
        <p:nvSpPr>
          <p:cNvPr id="4" name="TextBox 3"/>
          <p:cNvSpPr txBox="1"/>
          <p:nvPr/>
        </p:nvSpPr>
        <p:spPr>
          <a:xfrm>
            <a:off x="621792" y="1371600"/>
            <a:ext cx="10789920" cy="384048"/>
          </a:xfrm>
          <a:prstGeom prst="rect">
            <a:avLst/>
          </a:prstGeom>
          <a:noFill/>
        </p:spPr>
        <p:txBody>
          <a:bodyPr wrap="square" lIns="45720" rIns="45720" anchor="t">
            <a:spAutoFit/>
          </a:bodyPr>
          <a:lstStyle/>
          <a:p>
            <a:pPr algn="l">
              <a:spcAft>
                <a:spcPts val="300"/>
              </a:spcAft>
            </a:pPr>
            <a:r>
              <a:rPr sz="1300" b="0">
                <a:solidFill>
                  <a:srgbClr val="B4C2D6"/>
                </a:solidFill>
                <a:latin typeface="Aptos"/>
              </a:rPr>
              <a:t>A documented business email compromise case shows why verification matters.</a:t>
            </a:r>
          </a:p>
        </p:txBody>
      </p:sp>
      <p:sp>
        <p:nvSpPr>
          <p:cNvPr id="5" name="Rounded Rectangle 4"/>
          <p:cNvSpPr/>
          <p:nvPr/>
        </p:nvSpPr>
        <p:spPr>
          <a:xfrm>
            <a:off x="777240" y="1874519"/>
            <a:ext cx="2834640" cy="2514600"/>
          </a:xfrm>
          <a:prstGeom prst="roundRect">
            <a:avLst/>
          </a:prstGeom>
          <a:solidFill>
            <a:srgbClr val="3075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331720"/>
            <a:ext cx="2560320" cy="640080"/>
          </a:xfrm>
          <a:prstGeom prst="rect">
            <a:avLst/>
          </a:prstGeom>
          <a:noFill/>
        </p:spPr>
        <p:txBody>
          <a:bodyPr wrap="square" lIns="45720" rIns="45720" anchor="t">
            <a:spAutoFit/>
          </a:bodyPr>
          <a:lstStyle/>
          <a:p>
            <a:pPr algn="ctr">
              <a:spcAft>
                <a:spcPts val="300"/>
              </a:spcAft>
            </a:pPr>
            <a:r>
              <a:rPr sz="2700" b="1">
                <a:solidFill>
                  <a:srgbClr val="F5F8FC"/>
                </a:solidFill>
                <a:latin typeface="Aptos"/>
              </a:rPr>
              <a:t>OVER $120M</a:t>
            </a:r>
          </a:p>
        </p:txBody>
      </p:sp>
      <p:sp>
        <p:nvSpPr>
          <p:cNvPr id="7" name="TextBox 6"/>
          <p:cNvSpPr txBox="1"/>
          <p:nvPr/>
        </p:nvSpPr>
        <p:spPr>
          <a:xfrm>
            <a:off x="914400" y="3063240"/>
            <a:ext cx="2560320" cy="320040"/>
          </a:xfrm>
          <a:prstGeom prst="rect">
            <a:avLst/>
          </a:prstGeom>
          <a:noFill/>
        </p:spPr>
        <p:txBody>
          <a:bodyPr wrap="square" lIns="45720" rIns="45720" anchor="t">
            <a:spAutoFit/>
          </a:bodyPr>
          <a:lstStyle/>
          <a:p>
            <a:pPr algn="ctr">
              <a:spcAft>
                <a:spcPts val="300"/>
              </a:spcAft>
            </a:pPr>
            <a:r>
              <a:rPr sz="1400" b="1">
                <a:solidFill>
                  <a:srgbClr val="F5F8FC"/>
                </a:solidFill>
                <a:latin typeface="Aptos"/>
              </a:rPr>
              <a:t>in fraudulent transfers</a:t>
            </a:r>
          </a:p>
        </p:txBody>
      </p:sp>
      <p:sp>
        <p:nvSpPr>
          <p:cNvPr id="8" name="TextBox 7"/>
          <p:cNvSpPr txBox="1"/>
          <p:nvPr/>
        </p:nvSpPr>
        <p:spPr>
          <a:xfrm>
            <a:off x="1005840" y="3657600"/>
            <a:ext cx="2377440" cy="502920"/>
          </a:xfrm>
          <a:prstGeom prst="rect">
            <a:avLst/>
          </a:prstGeom>
          <a:noFill/>
        </p:spPr>
        <p:txBody>
          <a:bodyPr wrap="square" lIns="45720" rIns="45720" anchor="t">
            <a:spAutoFit/>
          </a:bodyPr>
          <a:lstStyle/>
          <a:p>
            <a:pPr algn="ctr">
              <a:spcAft>
                <a:spcPts val="300"/>
              </a:spcAft>
            </a:pPr>
            <a:r>
              <a:rPr sz="1000" b="0">
                <a:solidFill>
                  <a:srgbClr val="F5F8FC"/>
                </a:solidFill>
                <a:latin typeface="Aptos"/>
              </a:rPr>
              <a:t>Reported by the U.S. Department of Justice in its 2019 sentencing announcement.</a:t>
            </a:r>
          </a:p>
        </p:txBody>
      </p:sp>
      <p:sp>
        <p:nvSpPr>
          <p:cNvPr id="9" name="Rounded Rectangle 8"/>
          <p:cNvSpPr/>
          <p:nvPr/>
        </p:nvSpPr>
        <p:spPr>
          <a:xfrm>
            <a:off x="3931920" y="1874519"/>
            <a:ext cx="7452360" cy="2514600"/>
          </a:xfrm>
          <a:prstGeom prst="roundRect">
            <a:avLst/>
          </a:prstGeom>
          <a:solidFill>
            <a:srgbClr val="14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931920" y="1874519"/>
            <a:ext cx="73152" cy="2514600"/>
          </a:xfrm>
          <a:prstGeom prst="rect">
            <a:avLst/>
          </a:prstGeom>
          <a:solidFill>
            <a:srgbClr val="FFB1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60520" y="2057400"/>
            <a:ext cx="7040880" cy="365760"/>
          </a:xfrm>
          <a:prstGeom prst="rect">
            <a:avLst/>
          </a:prstGeom>
          <a:noFill/>
        </p:spPr>
        <p:txBody>
          <a:bodyPr wrap="square" lIns="45720" rIns="45720" anchor="t">
            <a:spAutoFit/>
          </a:bodyPr>
          <a:lstStyle/>
          <a:p>
            <a:pPr algn="l">
              <a:spcAft>
                <a:spcPts val="300"/>
              </a:spcAft>
            </a:pPr>
            <a:r>
              <a:rPr sz="1800" b="1">
                <a:solidFill>
                  <a:srgbClr val="F5F8FC"/>
                </a:solidFill>
                <a:latin typeface="Aptos"/>
              </a:rPr>
              <a:t>WHAT HAPPENED?</a:t>
            </a:r>
          </a:p>
        </p:txBody>
      </p:sp>
      <p:sp>
        <p:nvSpPr>
          <p:cNvPr id="12" name="TextBox 11"/>
          <p:cNvSpPr txBox="1"/>
          <p:nvPr/>
        </p:nvSpPr>
        <p:spPr>
          <a:xfrm>
            <a:off x="4160520" y="2532887"/>
            <a:ext cx="7040880" cy="1737360"/>
          </a:xfrm>
          <a:prstGeom prst="rect">
            <a:avLst/>
          </a:prstGeom>
          <a:noFill/>
        </p:spPr>
        <p:txBody>
          <a:bodyPr wrap="square" lIns="45720" rIns="45720" anchor="t">
            <a:spAutoFit/>
          </a:bodyPr>
          <a:lstStyle/>
          <a:p>
            <a:pPr algn="l">
              <a:spcAft>
                <a:spcPts val="300"/>
              </a:spcAft>
            </a:pPr>
            <a:r>
              <a:rPr sz="1500" b="0">
                <a:solidFill>
                  <a:srgbClr val="B4C2D6"/>
                </a:solidFill>
                <a:latin typeface="Aptos"/>
              </a:rPr>
              <a:t>From 2013–2015, Evaldas Rimasauskas used a company name resembling a legitimate hardware supplier and sent fraudulent emails and documents to two major U.S. technology companies. The messages redirected supplier payments to accounts he controlled. He later pleaded guilty and was sentenced to prison.</a:t>
            </a:r>
          </a:p>
        </p:txBody>
      </p:sp>
      <p:sp>
        <p:nvSpPr>
          <p:cNvPr id="13" name="Rounded Rectangle 12"/>
          <p:cNvSpPr/>
          <p:nvPr/>
        </p:nvSpPr>
        <p:spPr>
          <a:xfrm>
            <a:off x="822960" y="4800600"/>
            <a:ext cx="10515600" cy="822960"/>
          </a:xfrm>
          <a:prstGeom prst="roundRect">
            <a:avLst/>
          </a:prstGeom>
          <a:solidFill>
            <a:srgbClr val="14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5056632"/>
            <a:ext cx="1097280" cy="274320"/>
          </a:xfrm>
          <a:prstGeom prst="rect">
            <a:avLst/>
          </a:prstGeom>
          <a:noFill/>
        </p:spPr>
        <p:txBody>
          <a:bodyPr wrap="square" lIns="45720" rIns="45720" anchor="t">
            <a:spAutoFit/>
          </a:bodyPr>
          <a:lstStyle/>
          <a:p>
            <a:pPr algn="l">
              <a:spcAft>
                <a:spcPts val="300"/>
              </a:spcAft>
            </a:pPr>
            <a:r>
              <a:rPr sz="1400" b="1">
                <a:solidFill>
                  <a:srgbClr val="44D2DC"/>
                </a:solidFill>
                <a:latin typeface="Aptos"/>
              </a:rPr>
              <a:t>LESSON</a:t>
            </a:r>
          </a:p>
        </p:txBody>
      </p:sp>
      <p:sp>
        <p:nvSpPr>
          <p:cNvPr id="15" name="TextBox 14"/>
          <p:cNvSpPr txBox="1"/>
          <p:nvPr/>
        </p:nvSpPr>
        <p:spPr>
          <a:xfrm>
            <a:off x="2194560" y="4983480"/>
            <a:ext cx="8778240" cy="411480"/>
          </a:xfrm>
          <a:prstGeom prst="rect">
            <a:avLst/>
          </a:prstGeom>
          <a:noFill/>
        </p:spPr>
        <p:txBody>
          <a:bodyPr wrap="square" lIns="45720" rIns="45720" anchor="t">
            <a:spAutoFit/>
          </a:bodyPr>
          <a:lstStyle/>
          <a:p>
            <a:pPr algn="l">
              <a:spcAft>
                <a:spcPts val="300"/>
              </a:spcAft>
            </a:pPr>
            <a:r>
              <a:rPr sz="1400" b="0">
                <a:solidFill>
                  <a:srgbClr val="F5F8FC"/>
                </a:solidFill>
                <a:latin typeface="Aptos"/>
              </a:rPr>
              <a:t>Confirm bank-detail changes and unusual payment requests through a separate, trusted channel—not by replying to the email.</a:t>
            </a:r>
          </a:p>
        </p:txBody>
      </p:sp>
      <p:sp>
        <p:nvSpPr>
          <p:cNvPr id="16" name="TextBox 15"/>
          <p:cNvSpPr txBox="1"/>
          <p:nvPr/>
        </p:nvSpPr>
        <p:spPr>
          <a:xfrm>
            <a:off x="822960" y="5897880"/>
            <a:ext cx="10607040" cy="228600"/>
          </a:xfrm>
          <a:prstGeom prst="rect">
            <a:avLst/>
          </a:prstGeom>
          <a:noFill/>
        </p:spPr>
        <p:txBody>
          <a:bodyPr wrap="square" lIns="45720" rIns="45720" anchor="t">
            <a:spAutoFit/>
          </a:bodyPr>
          <a:lstStyle/>
          <a:p>
            <a:pPr algn="l">
              <a:spcAft>
                <a:spcPts val="300"/>
              </a:spcAft>
            </a:pPr>
            <a:r>
              <a:rPr sz="900" b="0">
                <a:solidFill>
                  <a:srgbClr val="B4C2D6"/>
                </a:solidFill>
                <a:latin typeface="Aptos"/>
              </a:rPr>
              <a:t>Source: U.S. Department of Justice, “Lithuanian Man Sentenced to 5 Years in Prison…” (19 Dec 2019)</a:t>
            </a:r>
          </a:p>
        </p:txBody>
      </p:sp>
      <p:sp>
        <p:nvSpPr>
          <p:cNvPr id="17" name="TextBox 16"/>
          <p:cNvSpPr txBox="1"/>
          <p:nvPr/>
        </p:nvSpPr>
        <p:spPr>
          <a:xfrm>
            <a:off x="594360" y="6510528"/>
            <a:ext cx="6400800" cy="164592"/>
          </a:xfrm>
          <a:prstGeom prst="rect">
            <a:avLst/>
          </a:prstGeom>
          <a:noFill/>
        </p:spPr>
        <p:txBody>
          <a:bodyPr wrap="square" lIns="45720" rIns="45720" anchor="t">
            <a:spAutoFit/>
          </a:bodyPr>
          <a:lstStyle/>
          <a:p>
            <a:pPr algn="l">
              <a:spcAft>
                <a:spcPts val="300"/>
              </a:spcAft>
            </a:pPr>
            <a:r>
              <a:rPr sz="800" b="1">
                <a:solidFill>
                  <a:srgbClr val="B4C2D6"/>
                </a:solidFill>
                <a:latin typeface="Aptos"/>
              </a:rPr>
              <a:t>CODEALPHA  •  PHISHING AWARENESS</a:t>
            </a:r>
          </a:p>
        </p:txBody>
      </p:sp>
      <p:sp>
        <p:nvSpPr>
          <p:cNvPr id="18" name="TextBox 17"/>
          <p:cNvSpPr txBox="1"/>
          <p:nvPr/>
        </p:nvSpPr>
        <p:spPr>
          <a:xfrm>
            <a:off x="11247120" y="6473952"/>
            <a:ext cx="320040" cy="201168"/>
          </a:xfrm>
          <a:prstGeom prst="rect">
            <a:avLst/>
          </a:prstGeom>
          <a:noFill/>
        </p:spPr>
        <p:txBody>
          <a:bodyPr wrap="square" lIns="45720" rIns="45720" anchor="t">
            <a:spAutoFit/>
          </a:bodyPr>
          <a:lstStyle/>
          <a:p>
            <a:pPr algn="r">
              <a:spcAft>
                <a:spcPts val="300"/>
              </a:spcAft>
            </a:pPr>
            <a:r>
              <a:rPr sz="900" b="1">
                <a:solidFill>
                  <a:srgbClr val="44D2DC"/>
                </a:solidFill>
                <a:latin typeface="Aptos"/>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C1830"/>
        </a:solidFill>
        <a:effectLst/>
      </p:bgPr>
    </p:bg>
    <p:spTree>
      <p:nvGrpSpPr>
        <p:cNvPr id="1" name=""/>
        <p:cNvGrpSpPr/>
        <p:nvPr/>
      </p:nvGrpSpPr>
      <p:grpSpPr/>
      <p:sp>
        <p:nvSpPr>
          <p:cNvPr id="2" name="TextBox 1"/>
          <p:cNvSpPr txBox="1"/>
          <p:nvPr/>
        </p:nvSpPr>
        <p:spPr>
          <a:xfrm>
            <a:off x="594360" y="320040"/>
            <a:ext cx="5303520" cy="274320"/>
          </a:xfrm>
          <a:prstGeom prst="rect">
            <a:avLst/>
          </a:prstGeom>
          <a:noFill/>
        </p:spPr>
        <p:txBody>
          <a:bodyPr wrap="square" lIns="45720" rIns="45720" anchor="t">
            <a:spAutoFit/>
          </a:bodyPr>
          <a:lstStyle/>
          <a:p>
            <a:pPr algn="l">
              <a:spcAft>
                <a:spcPts val="300"/>
              </a:spcAft>
            </a:pPr>
            <a:r>
              <a:rPr sz="1000" b="1">
                <a:solidFill>
                  <a:srgbClr val="44D2DC"/>
                </a:solidFill>
                <a:latin typeface="Aptos"/>
              </a:rPr>
              <a:t>08  /  PROTECT YOURSELF</a:t>
            </a:r>
          </a:p>
        </p:txBody>
      </p:sp>
      <p:sp>
        <p:nvSpPr>
          <p:cNvPr id="3" name="TextBox 2"/>
          <p:cNvSpPr txBox="1"/>
          <p:nvPr/>
        </p:nvSpPr>
        <p:spPr>
          <a:xfrm>
            <a:off x="594360" y="749808"/>
            <a:ext cx="10972800" cy="594360"/>
          </a:xfrm>
          <a:prstGeom prst="rect">
            <a:avLst/>
          </a:prstGeom>
          <a:noFill/>
        </p:spPr>
        <p:txBody>
          <a:bodyPr wrap="square" lIns="45720" rIns="45720" anchor="t">
            <a:spAutoFit/>
          </a:bodyPr>
          <a:lstStyle/>
          <a:p>
            <a:pPr algn="l">
              <a:spcAft>
                <a:spcPts val="300"/>
              </a:spcAft>
            </a:pPr>
            <a:r>
              <a:rPr sz="2800" b="1">
                <a:solidFill>
                  <a:srgbClr val="F5F8FC"/>
                </a:solidFill>
                <a:latin typeface="Aptos"/>
              </a:rPr>
              <a:t>Best practices to avoid phishing</a:t>
            </a:r>
          </a:p>
        </p:txBody>
      </p:sp>
      <p:sp>
        <p:nvSpPr>
          <p:cNvPr id="4" name="TextBox 3"/>
          <p:cNvSpPr txBox="1"/>
          <p:nvPr/>
        </p:nvSpPr>
        <p:spPr>
          <a:xfrm>
            <a:off x="621792" y="1371600"/>
            <a:ext cx="10789920" cy="384048"/>
          </a:xfrm>
          <a:prstGeom prst="rect">
            <a:avLst/>
          </a:prstGeom>
          <a:noFill/>
        </p:spPr>
        <p:txBody>
          <a:bodyPr wrap="square" lIns="45720" rIns="45720" anchor="t">
            <a:spAutoFit/>
          </a:bodyPr>
          <a:lstStyle/>
          <a:p>
            <a:pPr algn="l">
              <a:spcAft>
                <a:spcPts val="300"/>
              </a:spcAft>
            </a:pPr>
            <a:r>
              <a:rPr sz="1300" b="0">
                <a:solidFill>
                  <a:srgbClr val="B4C2D6"/>
                </a:solidFill>
                <a:latin typeface="Aptos"/>
              </a:rPr>
              <a:t>Make safe behavior your default, both at work and in your personal accounts.</a:t>
            </a:r>
          </a:p>
        </p:txBody>
      </p:sp>
      <p:sp>
        <p:nvSpPr>
          <p:cNvPr id="5" name="Rounded Rectangle 4"/>
          <p:cNvSpPr/>
          <p:nvPr/>
        </p:nvSpPr>
        <p:spPr>
          <a:xfrm>
            <a:off x="731520" y="1828800"/>
            <a:ext cx="5166360" cy="987552"/>
          </a:xfrm>
          <a:prstGeom prst="roundRect">
            <a:avLst/>
          </a:prstGeom>
          <a:solidFill>
            <a:srgbClr val="14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96112" y="2011680"/>
            <a:ext cx="1170432" cy="566928"/>
          </a:xfrm>
          <a:prstGeom prst="roundRect">
            <a:avLst/>
          </a:prstGeom>
          <a:solidFill>
            <a:srgbClr val="3075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157984"/>
            <a:ext cx="1133856" cy="201168"/>
          </a:xfrm>
          <a:prstGeom prst="rect">
            <a:avLst/>
          </a:prstGeom>
          <a:noFill/>
        </p:spPr>
        <p:txBody>
          <a:bodyPr wrap="square" lIns="45720" rIns="45720" anchor="t">
            <a:spAutoFit/>
          </a:bodyPr>
          <a:lstStyle/>
          <a:p>
            <a:pPr algn="ctr">
              <a:spcAft>
                <a:spcPts val="300"/>
              </a:spcAft>
            </a:pPr>
            <a:r>
              <a:rPr sz="1100" b="1">
                <a:solidFill>
                  <a:srgbClr val="F5F8FC"/>
                </a:solidFill>
                <a:latin typeface="Aptos"/>
              </a:rPr>
              <a:t>PAUSE</a:t>
            </a:r>
          </a:p>
        </p:txBody>
      </p:sp>
      <p:sp>
        <p:nvSpPr>
          <p:cNvPr id="8" name="TextBox 7"/>
          <p:cNvSpPr txBox="1"/>
          <p:nvPr/>
        </p:nvSpPr>
        <p:spPr>
          <a:xfrm>
            <a:off x="2240280" y="1975104"/>
            <a:ext cx="3456432" cy="713232"/>
          </a:xfrm>
          <a:prstGeom prst="rect">
            <a:avLst/>
          </a:prstGeom>
          <a:noFill/>
        </p:spPr>
        <p:txBody>
          <a:bodyPr wrap="square" lIns="45720" rIns="45720" anchor="t">
            <a:spAutoFit/>
          </a:bodyPr>
          <a:lstStyle/>
          <a:p>
            <a:pPr algn="l">
              <a:spcAft>
                <a:spcPts val="300"/>
              </a:spcAft>
            </a:pPr>
            <a:r>
              <a:rPr sz="1200" b="0">
                <a:solidFill>
                  <a:srgbClr val="F5F8FC"/>
                </a:solidFill>
                <a:latin typeface="Aptos"/>
              </a:rPr>
              <a:t>Do not rush because a message sounds urgent.</a:t>
            </a:r>
          </a:p>
        </p:txBody>
      </p:sp>
      <p:sp>
        <p:nvSpPr>
          <p:cNvPr id="9" name="Rounded Rectangle 8"/>
          <p:cNvSpPr/>
          <p:nvPr/>
        </p:nvSpPr>
        <p:spPr>
          <a:xfrm>
            <a:off x="6263640" y="1828800"/>
            <a:ext cx="5166360" cy="987552"/>
          </a:xfrm>
          <a:prstGeom prst="roundRect">
            <a:avLst/>
          </a:prstGeom>
          <a:solidFill>
            <a:srgbClr val="14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28231" y="2011680"/>
            <a:ext cx="1170432" cy="566928"/>
          </a:xfrm>
          <a:prstGeom prst="roundRect">
            <a:avLst/>
          </a:prstGeom>
          <a:solidFill>
            <a:srgbClr val="FFB1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2157984"/>
            <a:ext cx="1133856" cy="201168"/>
          </a:xfrm>
          <a:prstGeom prst="rect">
            <a:avLst/>
          </a:prstGeom>
          <a:noFill/>
        </p:spPr>
        <p:txBody>
          <a:bodyPr wrap="square" lIns="45720" rIns="45720" anchor="t">
            <a:spAutoFit/>
          </a:bodyPr>
          <a:lstStyle/>
          <a:p>
            <a:pPr algn="ctr">
              <a:spcAft>
                <a:spcPts val="300"/>
              </a:spcAft>
            </a:pPr>
            <a:r>
              <a:rPr sz="1100" b="1">
                <a:solidFill>
                  <a:srgbClr val="F5F8FC"/>
                </a:solidFill>
                <a:latin typeface="Aptos"/>
              </a:rPr>
              <a:t>VERIFY</a:t>
            </a:r>
          </a:p>
        </p:txBody>
      </p:sp>
      <p:sp>
        <p:nvSpPr>
          <p:cNvPr id="12" name="TextBox 11"/>
          <p:cNvSpPr txBox="1"/>
          <p:nvPr/>
        </p:nvSpPr>
        <p:spPr>
          <a:xfrm>
            <a:off x="7772400" y="1975104"/>
            <a:ext cx="3456432" cy="713232"/>
          </a:xfrm>
          <a:prstGeom prst="rect">
            <a:avLst/>
          </a:prstGeom>
          <a:noFill/>
        </p:spPr>
        <p:txBody>
          <a:bodyPr wrap="square" lIns="45720" rIns="45720" anchor="t">
            <a:spAutoFit/>
          </a:bodyPr>
          <a:lstStyle/>
          <a:p>
            <a:pPr algn="l">
              <a:spcAft>
                <a:spcPts val="300"/>
              </a:spcAft>
            </a:pPr>
            <a:r>
              <a:rPr sz="1200" b="0">
                <a:solidFill>
                  <a:srgbClr val="F5F8FC"/>
                </a:solidFill>
                <a:latin typeface="Aptos"/>
              </a:rPr>
              <a:t>Contact the person or organization using a number or address you already trust.</a:t>
            </a:r>
          </a:p>
        </p:txBody>
      </p:sp>
      <p:sp>
        <p:nvSpPr>
          <p:cNvPr id="13" name="Rounded Rectangle 12"/>
          <p:cNvSpPr/>
          <p:nvPr/>
        </p:nvSpPr>
        <p:spPr>
          <a:xfrm>
            <a:off x="731520" y="3063240"/>
            <a:ext cx="5166360" cy="987552"/>
          </a:xfrm>
          <a:prstGeom prst="roundRect">
            <a:avLst/>
          </a:prstGeom>
          <a:solidFill>
            <a:srgbClr val="14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96112" y="3246120"/>
            <a:ext cx="1170432" cy="566928"/>
          </a:xfrm>
          <a:prstGeom prst="roundRect">
            <a:avLst/>
          </a:prstGeom>
          <a:solidFill>
            <a:srgbClr val="44D2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392424"/>
            <a:ext cx="1133856" cy="201168"/>
          </a:xfrm>
          <a:prstGeom prst="rect">
            <a:avLst/>
          </a:prstGeom>
          <a:noFill/>
        </p:spPr>
        <p:txBody>
          <a:bodyPr wrap="square" lIns="45720" rIns="45720" anchor="t">
            <a:spAutoFit/>
          </a:bodyPr>
          <a:lstStyle/>
          <a:p>
            <a:pPr algn="ctr">
              <a:spcAft>
                <a:spcPts val="300"/>
              </a:spcAft>
            </a:pPr>
            <a:r>
              <a:rPr sz="1100" b="1">
                <a:solidFill>
                  <a:srgbClr val="F5F8FC"/>
                </a:solidFill>
                <a:latin typeface="Aptos"/>
              </a:rPr>
              <a:t>PROTECT</a:t>
            </a:r>
          </a:p>
        </p:txBody>
      </p:sp>
      <p:sp>
        <p:nvSpPr>
          <p:cNvPr id="16" name="TextBox 15"/>
          <p:cNvSpPr txBox="1"/>
          <p:nvPr/>
        </p:nvSpPr>
        <p:spPr>
          <a:xfrm>
            <a:off x="2240280" y="3209544"/>
            <a:ext cx="3456432" cy="713232"/>
          </a:xfrm>
          <a:prstGeom prst="rect">
            <a:avLst/>
          </a:prstGeom>
          <a:noFill/>
        </p:spPr>
        <p:txBody>
          <a:bodyPr wrap="square" lIns="45720" rIns="45720" anchor="t">
            <a:spAutoFit/>
          </a:bodyPr>
          <a:lstStyle/>
          <a:p>
            <a:pPr algn="l">
              <a:spcAft>
                <a:spcPts val="300"/>
              </a:spcAft>
            </a:pPr>
            <a:r>
              <a:rPr sz="1200" b="0">
                <a:solidFill>
                  <a:srgbClr val="F5F8FC"/>
                </a:solidFill>
                <a:latin typeface="Aptos"/>
              </a:rPr>
              <a:t>Use unique, strong passwords and enable multi-factor authentication (MFA).</a:t>
            </a:r>
          </a:p>
        </p:txBody>
      </p:sp>
      <p:sp>
        <p:nvSpPr>
          <p:cNvPr id="17" name="Rounded Rectangle 16"/>
          <p:cNvSpPr/>
          <p:nvPr/>
        </p:nvSpPr>
        <p:spPr>
          <a:xfrm>
            <a:off x="6263640" y="3063240"/>
            <a:ext cx="5166360" cy="987552"/>
          </a:xfrm>
          <a:prstGeom prst="roundRect">
            <a:avLst/>
          </a:prstGeom>
          <a:solidFill>
            <a:srgbClr val="14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428231" y="3246120"/>
            <a:ext cx="1170432" cy="566928"/>
          </a:xfrm>
          <a:prstGeom prst="roundRect">
            <a:avLst/>
          </a:prstGeom>
          <a:solidFill>
            <a:srgbClr val="55CD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3392424"/>
            <a:ext cx="1133856" cy="201168"/>
          </a:xfrm>
          <a:prstGeom prst="rect">
            <a:avLst/>
          </a:prstGeom>
          <a:noFill/>
        </p:spPr>
        <p:txBody>
          <a:bodyPr wrap="square" lIns="45720" rIns="45720" anchor="t">
            <a:spAutoFit/>
          </a:bodyPr>
          <a:lstStyle/>
          <a:p>
            <a:pPr algn="ctr">
              <a:spcAft>
                <a:spcPts val="300"/>
              </a:spcAft>
            </a:pPr>
            <a:r>
              <a:rPr sz="1100" b="1">
                <a:solidFill>
                  <a:srgbClr val="F5F8FC"/>
                </a:solidFill>
                <a:latin typeface="Aptos"/>
              </a:rPr>
              <a:t>UPDATE</a:t>
            </a:r>
          </a:p>
        </p:txBody>
      </p:sp>
      <p:sp>
        <p:nvSpPr>
          <p:cNvPr id="20" name="TextBox 19"/>
          <p:cNvSpPr txBox="1"/>
          <p:nvPr/>
        </p:nvSpPr>
        <p:spPr>
          <a:xfrm>
            <a:off x="7772400" y="3209544"/>
            <a:ext cx="3456432" cy="713232"/>
          </a:xfrm>
          <a:prstGeom prst="rect">
            <a:avLst/>
          </a:prstGeom>
          <a:noFill/>
        </p:spPr>
        <p:txBody>
          <a:bodyPr wrap="square" lIns="45720" rIns="45720" anchor="t">
            <a:spAutoFit/>
          </a:bodyPr>
          <a:lstStyle/>
          <a:p>
            <a:pPr algn="l">
              <a:spcAft>
                <a:spcPts val="300"/>
              </a:spcAft>
            </a:pPr>
            <a:r>
              <a:rPr sz="1200" b="0">
                <a:solidFill>
                  <a:srgbClr val="F5F8FC"/>
                </a:solidFill>
                <a:latin typeface="Aptos"/>
              </a:rPr>
              <a:t>Keep your device, browser, and security software updated.</a:t>
            </a:r>
          </a:p>
        </p:txBody>
      </p:sp>
      <p:sp>
        <p:nvSpPr>
          <p:cNvPr id="21" name="Rounded Rectangle 20"/>
          <p:cNvSpPr/>
          <p:nvPr/>
        </p:nvSpPr>
        <p:spPr>
          <a:xfrm>
            <a:off x="731520" y="4297680"/>
            <a:ext cx="5166360" cy="987552"/>
          </a:xfrm>
          <a:prstGeom prst="roundRect">
            <a:avLst/>
          </a:prstGeom>
          <a:solidFill>
            <a:srgbClr val="14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96112" y="4480560"/>
            <a:ext cx="1170432" cy="566928"/>
          </a:xfrm>
          <a:prstGeom prst="roundRect">
            <a:avLst/>
          </a:prstGeom>
          <a:solidFill>
            <a:srgbClr val="F56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4626864"/>
            <a:ext cx="1133856" cy="201168"/>
          </a:xfrm>
          <a:prstGeom prst="rect">
            <a:avLst/>
          </a:prstGeom>
          <a:noFill/>
        </p:spPr>
        <p:txBody>
          <a:bodyPr wrap="square" lIns="45720" rIns="45720" anchor="t">
            <a:spAutoFit/>
          </a:bodyPr>
          <a:lstStyle/>
          <a:p>
            <a:pPr algn="ctr">
              <a:spcAft>
                <a:spcPts val="300"/>
              </a:spcAft>
            </a:pPr>
            <a:r>
              <a:rPr sz="1100" b="1">
                <a:solidFill>
                  <a:srgbClr val="F5F8FC"/>
                </a:solidFill>
                <a:latin typeface="Aptos"/>
              </a:rPr>
              <a:t>REPORT</a:t>
            </a:r>
          </a:p>
        </p:txBody>
      </p:sp>
      <p:sp>
        <p:nvSpPr>
          <p:cNvPr id="24" name="TextBox 23"/>
          <p:cNvSpPr txBox="1"/>
          <p:nvPr/>
        </p:nvSpPr>
        <p:spPr>
          <a:xfrm>
            <a:off x="2240280" y="4443984"/>
            <a:ext cx="3456432" cy="713232"/>
          </a:xfrm>
          <a:prstGeom prst="rect">
            <a:avLst/>
          </a:prstGeom>
          <a:noFill/>
        </p:spPr>
        <p:txBody>
          <a:bodyPr wrap="square" lIns="45720" rIns="45720" anchor="t">
            <a:spAutoFit/>
          </a:bodyPr>
          <a:lstStyle/>
          <a:p>
            <a:pPr algn="l">
              <a:spcAft>
                <a:spcPts val="300"/>
              </a:spcAft>
            </a:pPr>
            <a:r>
              <a:rPr sz="1200" b="0">
                <a:solidFill>
                  <a:srgbClr val="F5F8FC"/>
                </a:solidFill>
                <a:latin typeface="Aptos"/>
              </a:rPr>
              <a:t>Use your email or workplace reporting process; alert IT/security if applicable.</a:t>
            </a:r>
          </a:p>
        </p:txBody>
      </p:sp>
      <p:sp>
        <p:nvSpPr>
          <p:cNvPr id="25" name="Rounded Rectangle 24"/>
          <p:cNvSpPr/>
          <p:nvPr/>
        </p:nvSpPr>
        <p:spPr>
          <a:xfrm>
            <a:off x="6263640" y="4297680"/>
            <a:ext cx="5166360" cy="987552"/>
          </a:xfrm>
          <a:prstGeom prst="roundRect">
            <a:avLst/>
          </a:prstGeom>
          <a:solidFill>
            <a:srgbClr val="14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428231" y="4480560"/>
            <a:ext cx="1170432" cy="566928"/>
          </a:xfrm>
          <a:prstGeom prst="roundRect">
            <a:avLst/>
          </a:prstGeom>
          <a:solidFill>
            <a:srgbClr val="3075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46520" y="4626864"/>
            <a:ext cx="1133856" cy="201168"/>
          </a:xfrm>
          <a:prstGeom prst="rect">
            <a:avLst/>
          </a:prstGeom>
          <a:noFill/>
        </p:spPr>
        <p:txBody>
          <a:bodyPr wrap="square" lIns="45720" rIns="45720" anchor="t">
            <a:spAutoFit/>
          </a:bodyPr>
          <a:lstStyle/>
          <a:p>
            <a:pPr algn="ctr">
              <a:spcAft>
                <a:spcPts val="300"/>
              </a:spcAft>
            </a:pPr>
            <a:r>
              <a:rPr sz="1100" b="1">
                <a:solidFill>
                  <a:srgbClr val="F5F8FC"/>
                </a:solidFill>
                <a:latin typeface="Aptos"/>
              </a:rPr>
              <a:t>RESPOND</a:t>
            </a:r>
          </a:p>
        </p:txBody>
      </p:sp>
      <p:sp>
        <p:nvSpPr>
          <p:cNvPr id="28" name="TextBox 27"/>
          <p:cNvSpPr txBox="1"/>
          <p:nvPr/>
        </p:nvSpPr>
        <p:spPr>
          <a:xfrm>
            <a:off x="7772400" y="4443984"/>
            <a:ext cx="3456432" cy="713232"/>
          </a:xfrm>
          <a:prstGeom prst="rect">
            <a:avLst/>
          </a:prstGeom>
          <a:noFill/>
        </p:spPr>
        <p:txBody>
          <a:bodyPr wrap="square" lIns="45720" rIns="45720" anchor="t">
            <a:spAutoFit/>
          </a:bodyPr>
          <a:lstStyle/>
          <a:p>
            <a:pPr algn="l">
              <a:spcAft>
                <a:spcPts val="300"/>
              </a:spcAft>
            </a:pPr>
            <a:r>
              <a:rPr sz="1200" b="0">
                <a:solidFill>
                  <a:srgbClr val="F5F8FC"/>
                </a:solidFill>
                <a:latin typeface="Aptos"/>
              </a:rPr>
              <a:t>If you clicked or shared information, report it quickly, change affected passwords from the official site, and contact your bank if money or financial data is involved.</a:t>
            </a:r>
          </a:p>
        </p:txBody>
      </p:sp>
      <p:sp>
        <p:nvSpPr>
          <p:cNvPr id="29" name="TextBox 28"/>
          <p:cNvSpPr txBox="1"/>
          <p:nvPr/>
        </p:nvSpPr>
        <p:spPr>
          <a:xfrm>
            <a:off x="594360" y="6510528"/>
            <a:ext cx="6400800" cy="164592"/>
          </a:xfrm>
          <a:prstGeom prst="rect">
            <a:avLst/>
          </a:prstGeom>
          <a:noFill/>
        </p:spPr>
        <p:txBody>
          <a:bodyPr wrap="square" lIns="45720" rIns="45720" anchor="t">
            <a:spAutoFit/>
          </a:bodyPr>
          <a:lstStyle/>
          <a:p>
            <a:pPr algn="l">
              <a:spcAft>
                <a:spcPts val="300"/>
              </a:spcAft>
            </a:pPr>
            <a:r>
              <a:rPr sz="800" b="1">
                <a:solidFill>
                  <a:srgbClr val="B4C2D6"/>
                </a:solidFill>
                <a:latin typeface="Aptos"/>
              </a:rPr>
              <a:t>CODEALPHA  •  PHISHING AWARENESS</a:t>
            </a:r>
          </a:p>
        </p:txBody>
      </p:sp>
      <p:sp>
        <p:nvSpPr>
          <p:cNvPr id="30" name="TextBox 29"/>
          <p:cNvSpPr txBox="1"/>
          <p:nvPr/>
        </p:nvSpPr>
        <p:spPr>
          <a:xfrm>
            <a:off x="11247120" y="6473952"/>
            <a:ext cx="320040" cy="201168"/>
          </a:xfrm>
          <a:prstGeom prst="rect">
            <a:avLst/>
          </a:prstGeom>
          <a:noFill/>
        </p:spPr>
        <p:txBody>
          <a:bodyPr wrap="square" lIns="45720" rIns="45720" anchor="t">
            <a:spAutoFit/>
          </a:bodyPr>
          <a:lstStyle/>
          <a:p>
            <a:pPr algn="r">
              <a:spcAft>
                <a:spcPts val="300"/>
              </a:spcAft>
            </a:pPr>
            <a:r>
              <a:rPr sz="900" b="1">
                <a:solidFill>
                  <a:srgbClr val="44D2DC"/>
                </a:solidFill>
                <a:latin typeface="Aptos"/>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C1830"/>
        </a:solidFill>
        <a:effectLst/>
      </p:bgPr>
    </p:bg>
    <p:spTree>
      <p:nvGrpSpPr>
        <p:cNvPr id="1" name=""/>
        <p:cNvGrpSpPr/>
        <p:nvPr/>
      </p:nvGrpSpPr>
      <p:grpSpPr/>
      <p:sp>
        <p:nvSpPr>
          <p:cNvPr id="2" name="TextBox 1"/>
          <p:cNvSpPr txBox="1"/>
          <p:nvPr/>
        </p:nvSpPr>
        <p:spPr>
          <a:xfrm>
            <a:off x="594360" y="320040"/>
            <a:ext cx="5303520" cy="274320"/>
          </a:xfrm>
          <a:prstGeom prst="rect">
            <a:avLst/>
          </a:prstGeom>
          <a:noFill/>
        </p:spPr>
        <p:txBody>
          <a:bodyPr wrap="square" lIns="45720" rIns="45720" anchor="t">
            <a:spAutoFit/>
          </a:bodyPr>
          <a:lstStyle/>
          <a:p>
            <a:pPr algn="l">
              <a:spcAft>
                <a:spcPts val="300"/>
              </a:spcAft>
            </a:pPr>
            <a:r>
              <a:rPr sz="1000" b="1">
                <a:solidFill>
                  <a:srgbClr val="44D2DC"/>
                </a:solidFill>
                <a:latin typeface="Aptos"/>
              </a:rPr>
              <a:t>09  /  KNOWLEDGE CHECK</a:t>
            </a:r>
          </a:p>
        </p:txBody>
      </p:sp>
      <p:sp>
        <p:nvSpPr>
          <p:cNvPr id="3" name="TextBox 2"/>
          <p:cNvSpPr txBox="1"/>
          <p:nvPr/>
        </p:nvSpPr>
        <p:spPr>
          <a:xfrm>
            <a:off x="594360" y="749808"/>
            <a:ext cx="10972800" cy="594360"/>
          </a:xfrm>
          <a:prstGeom prst="rect">
            <a:avLst/>
          </a:prstGeom>
          <a:noFill/>
        </p:spPr>
        <p:txBody>
          <a:bodyPr wrap="square" lIns="45720" rIns="45720" anchor="t">
            <a:spAutoFit/>
          </a:bodyPr>
          <a:lstStyle/>
          <a:p>
            <a:pPr algn="l">
              <a:spcAft>
                <a:spcPts val="300"/>
              </a:spcAft>
            </a:pPr>
            <a:r>
              <a:rPr sz="2800" b="1">
                <a:solidFill>
                  <a:srgbClr val="F5F8FC"/>
                </a:solidFill>
                <a:latin typeface="Aptos"/>
              </a:rPr>
              <a:t>Interactive quiz: what would you do?</a:t>
            </a:r>
          </a:p>
        </p:txBody>
      </p:sp>
      <p:sp>
        <p:nvSpPr>
          <p:cNvPr id="4" name="TextBox 3"/>
          <p:cNvSpPr txBox="1"/>
          <p:nvPr/>
        </p:nvSpPr>
        <p:spPr>
          <a:xfrm>
            <a:off x="621792" y="1371600"/>
            <a:ext cx="10789920" cy="384048"/>
          </a:xfrm>
          <a:prstGeom prst="rect">
            <a:avLst/>
          </a:prstGeom>
          <a:noFill/>
        </p:spPr>
        <p:txBody>
          <a:bodyPr wrap="square" lIns="45720" rIns="45720" anchor="t">
            <a:spAutoFit/>
          </a:bodyPr>
          <a:lstStyle/>
          <a:p>
            <a:pPr algn="l">
              <a:spcAft>
                <a:spcPts val="300"/>
              </a:spcAft>
            </a:pPr>
            <a:r>
              <a:rPr sz="1300" b="0">
                <a:solidFill>
                  <a:srgbClr val="B4C2D6"/>
                </a:solidFill>
                <a:latin typeface="Aptos"/>
              </a:rPr>
              <a:t>Choose an answer before moving to the answer key on the next slide.</a:t>
            </a:r>
          </a:p>
        </p:txBody>
      </p:sp>
      <p:sp>
        <p:nvSpPr>
          <p:cNvPr id="5" name="Rounded Rectangle 4"/>
          <p:cNvSpPr/>
          <p:nvPr/>
        </p:nvSpPr>
        <p:spPr>
          <a:xfrm>
            <a:off x="731520" y="1828800"/>
            <a:ext cx="10744200" cy="1078992"/>
          </a:xfrm>
          <a:prstGeom prst="roundRect">
            <a:avLst/>
          </a:prstGeom>
          <a:solidFill>
            <a:srgbClr val="14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14400" y="2029968"/>
            <a:ext cx="502920" cy="502920"/>
          </a:xfrm>
          <a:prstGeom prst="ellipse">
            <a:avLst/>
          </a:prstGeom>
          <a:solidFill>
            <a:srgbClr val="3075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148840"/>
            <a:ext cx="411480" cy="182880"/>
          </a:xfrm>
          <a:prstGeom prst="rect">
            <a:avLst/>
          </a:prstGeom>
          <a:noFill/>
        </p:spPr>
        <p:txBody>
          <a:bodyPr wrap="square" lIns="45720" rIns="45720" anchor="t">
            <a:spAutoFit/>
          </a:bodyPr>
          <a:lstStyle/>
          <a:p>
            <a:pPr algn="ctr">
              <a:spcAft>
                <a:spcPts val="300"/>
              </a:spcAft>
            </a:pPr>
            <a:r>
              <a:rPr sz="1300" b="1">
                <a:solidFill>
                  <a:srgbClr val="F5F8FC"/>
                </a:solidFill>
                <a:latin typeface="Aptos"/>
              </a:rPr>
              <a:t>1</a:t>
            </a:r>
          </a:p>
        </p:txBody>
      </p:sp>
      <p:sp>
        <p:nvSpPr>
          <p:cNvPr id="8" name="TextBox 7"/>
          <p:cNvSpPr txBox="1"/>
          <p:nvPr/>
        </p:nvSpPr>
        <p:spPr>
          <a:xfrm>
            <a:off x="1645920" y="1938528"/>
            <a:ext cx="9418320" cy="292608"/>
          </a:xfrm>
          <a:prstGeom prst="rect">
            <a:avLst/>
          </a:prstGeom>
          <a:noFill/>
        </p:spPr>
        <p:txBody>
          <a:bodyPr wrap="square" lIns="45720" rIns="45720" anchor="t">
            <a:spAutoFit/>
          </a:bodyPr>
          <a:lstStyle/>
          <a:p>
            <a:pPr algn="l">
              <a:spcAft>
                <a:spcPts val="300"/>
              </a:spcAft>
            </a:pPr>
            <a:r>
              <a:rPr sz="1400" b="1">
                <a:solidFill>
                  <a:srgbClr val="F5F8FC"/>
                </a:solidFill>
                <a:latin typeface="Aptos"/>
              </a:rPr>
              <a:t>An email says your account will close unless you sign in immediately. What should you do?</a:t>
            </a:r>
          </a:p>
        </p:txBody>
      </p:sp>
      <p:sp>
        <p:nvSpPr>
          <p:cNvPr id="9" name="TextBox 8"/>
          <p:cNvSpPr txBox="1"/>
          <p:nvPr/>
        </p:nvSpPr>
        <p:spPr>
          <a:xfrm>
            <a:off x="1645920" y="2359152"/>
            <a:ext cx="9418320" cy="411480"/>
          </a:xfrm>
          <a:prstGeom prst="rect">
            <a:avLst/>
          </a:prstGeom>
          <a:noFill/>
        </p:spPr>
        <p:txBody>
          <a:bodyPr wrap="square" lIns="45720" rIns="45720" anchor="t">
            <a:spAutoFit/>
          </a:bodyPr>
          <a:lstStyle/>
          <a:p>
            <a:pPr algn="l">
              <a:spcAft>
                <a:spcPts val="300"/>
              </a:spcAft>
            </a:pPr>
            <a:r>
              <a:rPr sz="1100" b="0">
                <a:solidFill>
                  <a:srgbClr val="B4C2D6"/>
                </a:solidFill>
                <a:latin typeface="Aptos"/>
              </a:rPr>
              <a:t>A. Click the link quickly     B. Open the official app/site yourself and check     C. Reply with your password</a:t>
            </a:r>
          </a:p>
        </p:txBody>
      </p:sp>
      <p:sp>
        <p:nvSpPr>
          <p:cNvPr id="10" name="Rounded Rectangle 9"/>
          <p:cNvSpPr/>
          <p:nvPr/>
        </p:nvSpPr>
        <p:spPr>
          <a:xfrm>
            <a:off x="731520" y="3127248"/>
            <a:ext cx="10744200" cy="1078992"/>
          </a:xfrm>
          <a:prstGeom prst="roundRect">
            <a:avLst/>
          </a:prstGeom>
          <a:solidFill>
            <a:srgbClr val="14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14400" y="3328416"/>
            <a:ext cx="502920" cy="502920"/>
          </a:xfrm>
          <a:prstGeom prst="ellipse">
            <a:avLst/>
          </a:prstGeom>
          <a:solidFill>
            <a:srgbClr val="3075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3447288"/>
            <a:ext cx="411480" cy="182880"/>
          </a:xfrm>
          <a:prstGeom prst="rect">
            <a:avLst/>
          </a:prstGeom>
          <a:noFill/>
        </p:spPr>
        <p:txBody>
          <a:bodyPr wrap="square" lIns="45720" rIns="45720" anchor="t">
            <a:spAutoFit/>
          </a:bodyPr>
          <a:lstStyle/>
          <a:p>
            <a:pPr algn="ctr">
              <a:spcAft>
                <a:spcPts val="300"/>
              </a:spcAft>
            </a:pPr>
            <a:r>
              <a:rPr sz="1300" b="1">
                <a:solidFill>
                  <a:srgbClr val="F5F8FC"/>
                </a:solidFill>
                <a:latin typeface="Aptos"/>
              </a:rPr>
              <a:t>2</a:t>
            </a:r>
          </a:p>
        </p:txBody>
      </p:sp>
      <p:sp>
        <p:nvSpPr>
          <p:cNvPr id="13" name="TextBox 12"/>
          <p:cNvSpPr txBox="1"/>
          <p:nvPr/>
        </p:nvSpPr>
        <p:spPr>
          <a:xfrm>
            <a:off x="1645920" y="3236976"/>
            <a:ext cx="9418320" cy="292608"/>
          </a:xfrm>
          <a:prstGeom prst="rect">
            <a:avLst/>
          </a:prstGeom>
          <a:noFill/>
        </p:spPr>
        <p:txBody>
          <a:bodyPr wrap="square" lIns="45720" rIns="45720" anchor="t">
            <a:spAutoFit/>
          </a:bodyPr>
          <a:lstStyle/>
          <a:p>
            <a:pPr algn="l">
              <a:spcAft>
                <a:spcPts val="300"/>
              </a:spcAft>
            </a:pPr>
            <a:r>
              <a:rPr sz="1400" b="1">
                <a:solidFill>
                  <a:srgbClr val="F5F8FC"/>
                </a:solidFill>
                <a:latin typeface="Aptos"/>
              </a:rPr>
              <a:t>Your supplier emails new bank details for a large invoice. Best response?</a:t>
            </a:r>
          </a:p>
        </p:txBody>
      </p:sp>
      <p:sp>
        <p:nvSpPr>
          <p:cNvPr id="14" name="TextBox 13"/>
          <p:cNvSpPr txBox="1"/>
          <p:nvPr/>
        </p:nvSpPr>
        <p:spPr>
          <a:xfrm>
            <a:off x="1645920" y="3657600"/>
            <a:ext cx="9418320" cy="411480"/>
          </a:xfrm>
          <a:prstGeom prst="rect">
            <a:avLst/>
          </a:prstGeom>
          <a:noFill/>
        </p:spPr>
        <p:txBody>
          <a:bodyPr wrap="square" lIns="45720" rIns="45720" anchor="t">
            <a:spAutoFit/>
          </a:bodyPr>
          <a:lstStyle/>
          <a:p>
            <a:pPr algn="l">
              <a:spcAft>
                <a:spcPts val="300"/>
              </a:spcAft>
            </a:pPr>
            <a:r>
              <a:rPr sz="1100" b="0">
                <a:solidFill>
                  <a:srgbClr val="B4C2D6"/>
                </a:solidFill>
                <a:latin typeface="Aptos"/>
              </a:rPr>
              <a:t>A. Pay immediately     B. Reply to confirm     C. Verify using a known phone number or trusted channel</a:t>
            </a:r>
          </a:p>
        </p:txBody>
      </p:sp>
      <p:sp>
        <p:nvSpPr>
          <p:cNvPr id="15" name="Rounded Rectangle 14"/>
          <p:cNvSpPr/>
          <p:nvPr/>
        </p:nvSpPr>
        <p:spPr>
          <a:xfrm>
            <a:off x="731520" y="4425696"/>
            <a:ext cx="10744200" cy="1078992"/>
          </a:xfrm>
          <a:prstGeom prst="roundRect">
            <a:avLst/>
          </a:prstGeom>
          <a:solidFill>
            <a:srgbClr val="14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14400" y="4626864"/>
            <a:ext cx="502920" cy="502920"/>
          </a:xfrm>
          <a:prstGeom prst="ellipse">
            <a:avLst/>
          </a:prstGeom>
          <a:solidFill>
            <a:srgbClr val="3075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4745736"/>
            <a:ext cx="411480" cy="182880"/>
          </a:xfrm>
          <a:prstGeom prst="rect">
            <a:avLst/>
          </a:prstGeom>
          <a:noFill/>
        </p:spPr>
        <p:txBody>
          <a:bodyPr wrap="square" lIns="45720" rIns="45720" anchor="t">
            <a:spAutoFit/>
          </a:bodyPr>
          <a:lstStyle/>
          <a:p>
            <a:pPr algn="ctr">
              <a:spcAft>
                <a:spcPts val="300"/>
              </a:spcAft>
            </a:pPr>
            <a:r>
              <a:rPr sz="1300" b="1">
                <a:solidFill>
                  <a:srgbClr val="F5F8FC"/>
                </a:solidFill>
                <a:latin typeface="Aptos"/>
              </a:rPr>
              <a:t>3</a:t>
            </a:r>
          </a:p>
        </p:txBody>
      </p:sp>
      <p:sp>
        <p:nvSpPr>
          <p:cNvPr id="18" name="TextBox 17"/>
          <p:cNvSpPr txBox="1"/>
          <p:nvPr/>
        </p:nvSpPr>
        <p:spPr>
          <a:xfrm>
            <a:off x="1645920" y="4535424"/>
            <a:ext cx="9418320" cy="292608"/>
          </a:xfrm>
          <a:prstGeom prst="rect">
            <a:avLst/>
          </a:prstGeom>
          <a:noFill/>
        </p:spPr>
        <p:txBody>
          <a:bodyPr wrap="square" lIns="45720" rIns="45720" anchor="t">
            <a:spAutoFit/>
          </a:bodyPr>
          <a:lstStyle/>
          <a:p>
            <a:pPr algn="l">
              <a:spcAft>
                <a:spcPts val="300"/>
              </a:spcAft>
            </a:pPr>
            <a:r>
              <a:rPr sz="1400" b="1">
                <a:solidFill>
                  <a:srgbClr val="F5F8FC"/>
                </a:solidFill>
                <a:latin typeface="Aptos"/>
              </a:rPr>
              <a:t>Which can be a sign of phishing?</a:t>
            </a:r>
          </a:p>
        </p:txBody>
      </p:sp>
      <p:sp>
        <p:nvSpPr>
          <p:cNvPr id="19" name="TextBox 18"/>
          <p:cNvSpPr txBox="1"/>
          <p:nvPr/>
        </p:nvSpPr>
        <p:spPr>
          <a:xfrm>
            <a:off x="1645920" y="4956048"/>
            <a:ext cx="9418320" cy="411480"/>
          </a:xfrm>
          <a:prstGeom prst="rect">
            <a:avLst/>
          </a:prstGeom>
          <a:noFill/>
        </p:spPr>
        <p:txBody>
          <a:bodyPr wrap="square" lIns="45720" rIns="45720" anchor="t">
            <a:spAutoFit/>
          </a:bodyPr>
          <a:lstStyle/>
          <a:p>
            <a:pPr algn="l">
              <a:spcAft>
                <a:spcPts val="300"/>
              </a:spcAft>
            </a:pPr>
            <a:r>
              <a:rPr sz="1100" b="0">
                <a:solidFill>
                  <a:srgbClr val="B4C2D6"/>
                </a:solidFill>
                <a:latin typeface="Aptos"/>
              </a:rPr>
              <a:t>A. A mismatched sender address or link     B. A message asking for a one-time code     C. Both A and B</a:t>
            </a:r>
          </a:p>
        </p:txBody>
      </p:sp>
      <p:sp>
        <p:nvSpPr>
          <p:cNvPr id="20" name="TextBox 19"/>
          <p:cNvSpPr txBox="1"/>
          <p:nvPr/>
        </p:nvSpPr>
        <p:spPr>
          <a:xfrm>
            <a:off x="594360" y="6510528"/>
            <a:ext cx="6400800" cy="164592"/>
          </a:xfrm>
          <a:prstGeom prst="rect">
            <a:avLst/>
          </a:prstGeom>
          <a:noFill/>
        </p:spPr>
        <p:txBody>
          <a:bodyPr wrap="square" lIns="45720" rIns="45720" anchor="t">
            <a:spAutoFit/>
          </a:bodyPr>
          <a:lstStyle/>
          <a:p>
            <a:pPr algn="l">
              <a:spcAft>
                <a:spcPts val="300"/>
              </a:spcAft>
            </a:pPr>
            <a:r>
              <a:rPr sz="800" b="1">
                <a:solidFill>
                  <a:srgbClr val="B4C2D6"/>
                </a:solidFill>
                <a:latin typeface="Aptos"/>
              </a:rPr>
              <a:t>CODEALPHA  •  PHISHING AWARENESS</a:t>
            </a:r>
          </a:p>
        </p:txBody>
      </p:sp>
      <p:sp>
        <p:nvSpPr>
          <p:cNvPr id="21" name="TextBox 20"/>
          <p:cNvSpPr txBox="1"/>
          <p:nvPr/>
        </p:nvSpPr>
        <p:spPr>
          <a:xfrm>
            <a:off x="11247120" y="6473952"/>
            <a:ext cx="320040" cy="201168"/>
          </a:xfrm>
          <a:prstGeom prst="rect">
            <a:avLst/>
          </a:prstGeom>
          <a:noFill/>
        </p:spPr>
        <p:txBody>
          <a:bodyPr wrap="square" lIns="45720" rIns="45720" anchor="t">
            <a:spAutoFit/>
          </a:bodyPr>
          <a:lstStyle/>
          <a:p>
            <a:pPr algn="r">
              <a:spcAft>
                <a:spcPts val="300"/>
              </a:spcAft>
            </a:pPr>
            <a:r>
              <a:rPr sz="900" b="1">
                <a:solidFill>
                  <a:srgbClr val="44D2DC"/>
                </a:solidFill>
                <a:latin typeface="Aptos"/>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C1830"/>
        </a:solidFill>
        <a:effectLst/>
      </p:bgPr>
    </p:bg>
    <p:spTree>
      <p:nvGrpSpPr>
        <p:cNvPr id="1" name=""/>
        <p:cNvGrpSpPr/>
        <p:nvPr/>
      </p:nvGrpSpPr>
      <p:grpSpPr/>
      <p:sp>
        <p:nvSpPr>
          <p:cNvPr id="2" name="TextBox 1"/>
          <p:cNvSpPr txBox="1"/>
          <p:nvPr/>
        </p:nvSpPr>
        <p:spPr>
          <a:xfrm>
            <a:off x="594360" y="320040"/>
            <a:ext cx="5303520" cy="274320"/>
          </a:xfrm>
          <a:prstGeom prst="rect">
            <a:avLst/>
          </a:prstGeom>
          <a:noFill/>
        </p:spPr>
        <p:txBody>
          <a:bodyPr wrap="square" lIns="45720" rIns="45720" anchor="t">
            <a:spAutoFit/>
          </a:bodyPr>
          <a:lstStyle/>
          <a:p>
            <a:pPr algn="l">
              <a:spcAft>
                <a:spcPts val="300"/>
              </a:spcAft>
            </a:pPr>
            <a:r>
              <a:rPr sz="1000" b="1">
                <a:solidFill>
                  <a:srgbClr val="44D2DC"/>
                </a:solidFill>
                <a:latin typeface="Aptos"/>
              </a:rPr>
              <a:t>10  /  QUIZ ANSWERS</a:t>
            </a:r>
          </a:p>
        </p:txBody>
      </p:sp>
      <p:sp>
        <p:nvSpPr>
          <p:cNvPr id="3" name="TextBox 2"/>
          <p:cNvSpPr txBox="1"/>
          <p:nvPr/>
        </p:nvSpPr>
        <p:spPr>
          <a:xfrm>
            <a:off x="594360" y="749808"/>
            <a:ext cx="10972800" cy="594360"/>
          </a:xfrm>
          <a:prstGeom prst="rect">
            <a:avLst/>
          </a:prstGeom>
          <a:noFill/>
        </p:spPr>
        <p:txBody>
          <a:bodyPr wrap="square" lIns="45720" rIns="45720" anchor="t">
            <a:spAutoFit/>
          </a:bodyPr>
          <a:lstStyle/>
          <a:p>
            <a:pPr algn="l">
              <a:spcAft>
                <a:spcPts val="300"/>
              </a:spcAft>
            </a:pPr>
            <a:r>
              <a:rPr sz="2800" b="1">
                <a:solidFill>
                  <a:srgbClr val="F5F8FC"/>
                </a:solidFill>
                <a:latin typeface="Aptos"/>
              </a:rPr>
              <a:t>Check your answers</a:t>
            </a:r>
          </a:p>
        </p:txBody>
      </p:sp>
      <p:sp>
        <p:nvSpPr>
          <p:cNvPr id="4" name="TextBox 3"/>
          <p:cNvSpPr txBox="1"/>
          <p:nvPr/>
        </p:nvSpPr>
        <p:spPr>
          <a:xfrm>
            <a:off x="621792" y="1371600"/>
            <a:ext cx="10789920" cy="384048"/>
          </a:xfrm>
          <a:prstGeom prst="rect">
            <a:avLst/>
          </a:prstGeom>
          <a:noFill/>
        </p:spPr>
        <p:txBody>
          <a:bodyPr wrap="square" lIns="45720" rIns="45720" anchor="t">
            <a:spAutoFit/>
          </a:bodyPr>
          <a:lstStyle/>
          <a:p>
            <a:pPr algn="l">
              <a:spcAft>
                <a:spcPts val="300"/>
              </a:spcAft>
            </a:pPr>
            <a:r>
              <a:rPr sz="1300" b="0">
                <a:solidFill>
                  <a:srgbClr val="B4C2D6"/>
                </a:solidFill>
                <a:latin typeface="Aptos"/>
              </a:rPr>
              <a:t>Use the explanations to reinforce the key lessons.</a:t>
            </a:r>
          </a:p>
        </p:txBody>
      </p:sp>
      <p:sp>
        <p:nvSpPr>
          <p:cNvPr id="5" name="Rounded Rectangle 4"/>
          <p:cNvSpPr/>
          <p:nvPr/>
        </p:nvSpPr>
        <p:spPr>
          <a:xfrm>
            <a:off x="731520" y="1965960"/>
            <a:ext cx="3429000" cy="2423160"/>
          </a:xfrm>
          <a:prstGeom prst="roundRect">
            <a:avLst/>
          </a:prstGeom>
          <a:solidFill>
            <a:srgbClr val="14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965960"/>
            <a:ext cx="73152" cy="2423160"/>
          </a:xfrm>
          <a:prstGeom prst="rect">
            <a:avLst/>
          </a:prstGeom>
          <a:solidFill>
            <a:srgbClr val="55CD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148840"/>
            <a:ext cx="3017520" cy="365760"/>
          </a:xfrm>
          <a:prstGeom prst="rect">
            <a:avLst/>
          </a:prstGeom>
          <a:noFill/>
        </p:spPr>
        <p:txBody>
          <a:bodyPr wrap="square" lIns="45720" rIns="45720" anchor="t">
            <a:spAutoFit/>
          </a:bodyPr>
          <a:lstStyle/>
          <a:p>
            <a:pPr algn="l">
              <a:spcAft>
                <a:spcPts val="300"/>
              </a:spcAft>
            </a:pPr>
            <a:r>
              <a:rPr sz="1700" b="1">
                <a:solidFill>
                  <a:srgbClr val="F5F8FC"/>
                </a:solidFill>
                <a:latin typeface="Aptos"/>
              </a:rPr>
              <a:t>QUESTION 1 — B</a:t>
            </a:r>
          </a:p>
        </p:txBody>
      </p:sp>
      <p:sp>
        <p:nvSpPr>
          <p:cNvPr id="8" name="TextBox 7"/>
          <p:cNvSpPr txBox="1"/>
          <p:nvPr/>
        </p:nvSpPr>
        <p:spPr>
          <a:xfrm>
            <a:off x="960120" y="2624328"/>
            <a:ext cx="3017520" cy="1645919"/>
          </a:xfrm>
          <a:prstGeom prst="rect">
            <a:avLst/>
          </a:prstGeom>
          <a:noFill/>
        </p:spPr>
        <p:txBody>
          <a:bodyPr wrap="square" lIns="45720" rIns="45720" anchor="t">
            <a:spAutoFit/>
          </a:bodyPr>
          <a:lstStyle/>
          <a:p>
            <a:pPr algn="l">
              <a:spcAft>
                <a:spcPts val="300"/>
              </a:spcAft>
            </a:pPr>
            <a:r>
              <a:rPr sz="1400" b="0">
                <a:solidFill>
                  <a:srgbClr val="B4C2D6"/>
                </a:solidFill>
                <a:latin typeface="Aptos"/>
              </a:rPr>
              <a:t>Visit the official app or type a known address yourself. Do not use the suspicious message link.</a:t>
            </a:r>
          </a:p>
        </p:txBody>
      </p:sp>
      <p:sp>
        <p:nvSpPr>
          <p:cNvPr id="9" name="Rounded Rectangle 8"/>
          <p:cNvSpPr/>
          <p:nvPr/>
        </p:nvSpPr>
        <p:spPr>
          <a:xfrm>
            <a:off x="4389120" y="1965960"/>
            <a:ext cx="3429000" cy="2423160"/>
          </a:xfrm>
          <a:prstGeom prst="roundRect">
            <a:avLst/>
          </a:prstGeom>
          <a:solidFill>
            <a:srgbClr val="14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1965960"/>
            <a:ext cx="73152" cy="2423160"/>
          </a:xfrm>
          <a:prstGeom prst="rect">
            <a:avLst/>
          </a:prstGeom>
          <a:solidFill>
            <a:srgbClr val="55CD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2148840"/>
            <a:ext cx="3017520" cy="365760"/>
          </a:xfrm>
          <a:prstGeom prst="rect">
            <a:avLst/>
          </a:prstGeom>
          <a:noFill/>
        </p:spPr>
        <p:txBody>
          <a:bodyPr wrap="square" lIns="45720" rIns="45720" anchor="t">
            <a:spAutoFit/>
          </a:bodyPr>
          <a:lstStyle/>
          <a:p>
            <a:pPr algn="l">
              <a:spcAft>
                <a:spcPts val="300"/>
              </a:spcAft>
            </a:pPr>
            <a:r>
              <a:rPr sz="1700" b="1">
                <a:solidFill>
                  <a:srgbClr val="F5F8FC"/>
                </a:solidFill>
                <a:latin typeface="Aptos"/>
              </a:rPr>
              <a:t>QUESTION 2 — C</a:t>
            </a:r>
          </a:p>
        </p:txBody>
      </p:sp>
      <p:sp>
        <p:nvSpPr>
          <p:cNvPr id="12" name="TextBox 11"/>
          <p:cNvSpPr txBox="1"/>
          <p:nvPr/>
        </p:nvSpPr>
        <p:spPr>
          <a:xfrm>
            <a:off x="4617720" y="2624328"/>
            <a:ext cx="3017520" cy="1645919"/>
          </a:xfrm>
          <a:prstGeom prst="rect">
            <a:avLst/>
          </a:prstGeom>
          <a:noFill/>
        </p:spPr>
        <p:txBody>
          <a:bodyPr wrap="square" lIns="45720" rIns="45720" anchor="t">
            <a:spAutoFit/>
          </a:bodyPr>
          <a:lstStyle/>
          <a:p>
            <a:pPr algn="l">
              <a:spcAft>
                <a:spcPts val="300"/>
              </a:spcAft>
            </a:pPr>
            <a:r>
              <a:rPr sz="1400" b="0">
                <a:solidFill>
                  <a:srgbClr val="B4C2D6"/>
                </a:solidFill>
                <a:latin typeface="Aptos"/>
              </a:rPr>
              <a:t>Payment changes should be verified independently using a trusted, previously known contact method.</a:t>
            </a:r>
          </a:p>
        </p:txBody>
      </p:sp>
      <p:sp>
        <p:nvSpPr>
          <p:cNvPr id="13" name="Rounded Rectangle 12"/>
          <p:cNvSpPr/>
          <p:nvPr/>
        </p:nvSpPr>
        <p:spPr>
          <a:xfrm>
            <a:off x="8046720" y="1965960"/>
            <a:ext cx="3429000" cy="2423160"/>
          </a:xfrm>
          <a:prstGeom prst="roundRect">
            <a:avLst/>
          </a:prstGeom>
          <a:solidFill>
            <a:srgbClr val="14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46720" y="1965960"/>
            <a:ext cx="73152" cy="2423160"/>
          </a:xfrm>
          <a:prstGeom prst="rect">
            <a:avLst/>
          </a:prstGeom>
          <a:solidFill>
            <a:srgbClr val="55CD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75320" y="2148840"/>
            <a:ext cx="3017520" cy="365760"/>
          </a:xfrm>
          <a:prstGeom prst="rect">
            <a:avLst/>
          </a:prstGeom>
          <a:noFill/>
        </p:spPr>
        <p:txBody>
          <a:bodyPr wrap="square" lIns="45720" rIns="45720" anchor="t">
            <a:spAutoFit/>
          </a:bodyPr>
          <a:lstStyle/>
          <a:p>
            <a:pPr algn="l">
              <a:spcAft>
                <a:spcPts val="300"/>
              </a:spcAft>
            </a:pPr>
            <a:r>
              <a:rPr sz="1700" b="1">
                <a:solidFill>
                  <a:srgbClr val="F5F8FC"/>
                </a:solidFill>
                <a:latin typeface="Aptos"/>
              </a:rPr>
              <a:t>QUESTION 3 — C</a:t>
            </a:r>
          </a:p>
        </p:txBody>
      </p:sp>
      <p:sp>
        <p:nvSpPr>
          <p:cNvPr id="16" name="TextBox 15"/>
          <p:cNvSpPr txBox="1"/>
          <p:nvPr/>
        </p:nvSpPr>
        <p:spPr>
          <a:xfrm>
            <a:off x="8275320" y="2624328"/>
            <a:ext cx="3017520" cy="1645919"/>
          </a:xfrm>
          <a:prstGeom prst="rect">
            <a:avLst/>
          </a:prstGeom>
          <a:noFill/>
        </p:spPr>
        <p:txBody>
          <a:bodyPr wrap="square" lIns="45720" rIns="45720" anchor="t">
            <a:spAutoFit/>
          </a:bodyPr>
          <a:lstStyle/>
          <a:p>
            <a:pPr algn="l">
              <a:spcAft>
                <a:spcPts val="300"/>
              </a:spcAft>
            </a:pPr>
            <a:r>
              <a:rPr sz="1400" b="0">
                <a:solidFill>
                  <a:srgbClr val="B4C2D6"/>
                </a:solidFill>
                <a:latin typeface="Aptos"/>
              </a:rPr>
              <a:t>Both sender/link mismatches and requests for one-time codes are warning signs.</a:t>
            </a:r>
          </a:p>
        </p:txBody>
      </p:sp>
      <p:sp>
        <p:nvSpPr>
          <p:cNvPr id="17" name="Rounded Rectangle 16"/>
          <p:cNvSpPr/>
          <p:nvPr/>
        </p:nvSpPr>
        <p:spPr>
          <a:xfrm>
            <a:off x="822960" y="4800600"/>
            <a:ext cx="10515600" cy="777240"/>
          </a:xfrm>
          <a:prstGeom prst="roundRect">
            <a:avLst/>
          </a:prstGeom>
          <a:solidFill>
            <a:srgbClr val="14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5047488"/>
            <a:ext cx="2286000" cy="274320"/>
          </a:xfrm>
          <a:prstGeom prst="rect">
            <a:avLst/>
          </a:prstGeom>
          <a:noFill/>
        </p:spPr>
        <p:txBody>
          <a:bodyPr wrap="square" lIns="45720" rIns="45720" anchor="t">
            <a:spAutoFit/>
          </a:bodyPr>
          <a:lstStyle/>
          <a:p>
            <a:pPr algn="l">
              <a:spcAft>
                <a:spcPts val="300"/>
              </a:spcAft>
            </a:pPr>
            <a:r>
              <a:rPr sz="1400" b="1">
                <a:solidFill>
                  <a:srgbClr val="44D2DC"/>
                </a:solidFill>
                <a:latin typeface="Aptos"/>
              </a:rPr>
              <a:t>Remember the 3-step habit:</a:t>
            </a:r>
          </a:p>
        </p:txBody>
      </p:sp>
      <p:sp>
        <p:nvSpPr>
          <p:cNvPr id="19" name="TextBox 18"/>
          <p:cNvSpPr txBox="1"/>
          <p:nvPr/>
        </p:nvSpPr>
        <p:spPr>
          <a:xfrm>
            <a:off x="3657600" y="4992624"/>
            <a:ext cx="4937760" cy="365760"/>
          </a:xfrm>
          <a:prstGeom prst="rect">
            <a:avLst/>
          </a:prstGeom>
          <a:noFill/>
        </p:spPr>
        <p:txBody>
          <a:bodyPr wrap="square" lIns="45720" rIns="45720" anchor="t">
            <a:spAutoFit/>
          </a:bodyPr>
          <a:lstStyle/>
          <a:p>
            <a:pPr algn="ctr">
              <a:spcAft>
                <a:spcPts val="300"/>
              </a:spcAft>
            </a:pPr>
            <a:r>
              <a:rPr sz="1900" b="1">
                <a:solidFill>
                  <a:srgbClr val="FFB14A"/>
                </a:solidFill>
                <a:latin typeface="Aptos"/>
              </a:rPr>
              <a:t>STOP  •  VERIFY  •  REPORT</a:t>
            </a:r>
          </a:p>
        </p:txBody>
      </p:sp>
      <p:sp>
        <p:nvSpPr>
          <p:cNvPr id="20" name="TextBox 19"/>
          <p:cNvSpPr txBox="1"/>
          <p:nvPr/>
        </p:nvSpPr>
        <p:spPr>
          <a:xfrm>
            <a:off x="594360" y="6510528"/>
            <a:ext cx="6400800" cy="164592"/>
          </a:xfrm>
          <a:prstGeom prst="rect">
            <a:avLst/>
          </a:prstGeom>
          <a:noFill/>
        </p:spPr>
        <p:txBody>
          <a:bodyPr wrap="square" lIns="45720" rIns="45720" anchor="t">
            <a:spAutoFit/>
          </a:bodyPr>
          <a:lstStyle/>
          <a:p>
            <a:pPr algn="l">
              <a:spcAft>
                <a:spcPts val="300"/>
              </a:spcAft>
            </a:pPr>
            <a:r>
              <a:rPr sz="800" b="1">
                <a:solidFill>
                  <a:srgbClr val="B4C2D6"/>
                </a:solidFill>
                <a:latin typeface="Aptos"/>
              </a:rPr>
              <a:t>CODEALPHA  •  PHISHING AWARENESS</a:t>
            </a:r>
          </a:p>
        </p:txBody>
      </p:sp>
      <p:sp>
        <p:nvSpPr>
          <p:cNvPr id="21" name="TextBox 20"/>
          <p:cNvSpPr txBox="1"/>
          <p:nvPr/>
        </p:nvSpPr>
        <p:spPr>
          <a:xfrm>
            <a:off x="11247120" y="6473952"/>
            <a:ext cx="320040" cy="201168"/>
          </a:xfrm>
          <a:prstGeom prst="rect">
            <a:avLst/>
          </a:prstGeom>
          <a:noFill/>
        </p:spPr>
        <p:txBody>
          <a:bodyPr wrap="square" lIns="45720" rIns="45720" anchor="t">
            <a:spAutoFit/>
          </a:bodyPr>
          <a:lstStyle/>
          <a:p>
            <a:pPr algn="r">
              <a:spcAft>
                <a:spcPts val="300"/>
              </a:spcAft>
            </a:pPr>
            <a:r>
              <a:rPr sz="900" b="1">
                <a:solidFill>
                  <a:srgbClr val="44D2DC"/>
                </a:solidFill>
                <a:latin typeface="Apto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C1830"/>
        </a:solidFill>
        <a:effectLst/>
      </p:bgPr>
    </p:bg>
    <p:spTree>
      <p:nvGrpSpPr>
        <p:cNvPr id="1" name=""/>
        <p:cNvGrpSpPr/>
        <p:nvPr/>
      </p:nvGrpSpPr>
      <p:grpSpPr/>
      <p:sp>
        <p:nvSpPr>
          <p:cNvPr id="2" name="TextBox 1"/>
          <p:cNvSpPr txBox="1"/>
          <p:nvPr/>
        </p:nvSpPr>
        <p:spPr>
          <a:xfrm>
            <a:off x="594360" y="320040"/>
            <a:ext cx="5303520" cy="274320"/>
          </a:xfrm>
          <a:prstGeom prst="rect">
            <a:avLst/>
          </a:prstGeom>
          <a:noFill/>
        </p:spPr>
        <p:txBody>
          <a:bodyPr wrap="square" lIns="45720" rIns="45720" anchor="t">
            <a:spAutoFit/>
          </a:bodyPr>
          <a:lstStyle/>
          <a:p>
            <a:pPr algn="l">
              <a:spcAft>
                <a:spcPts val="300"/>
              </a:spcAft>
            </a:pPr>
            <a:r>
              <a:rPr sz="1000" b="1">
                <a:solidFill>
                  <a:srgbClr val="44D2DC"/>
                </a:solidFill>
                <a:latin typeface="Aptos"/>
              </a:rPr>
              <a:t>11  /  WRAP-UP</a:t>
            </a:r>
          </a:p>
        </p:txBody>
      </p:sp>
      <p:sp>
        <p:nvSpPr>
          <p:cNvPr id="3" name="TextBox 2"/>
          <p:cNvSpPr txBox="1"/>
          <p:nvPr/>
        </p:nvSpPr>
        <p:spPr>
          <a:xfrm>
            <a:off x="594360" y="749808"/>
            <a:ext cx="10972800" cy="594360"/>
          </a:xfrm>
          <a:prstGeom prst="rect">
            <a:avLst/>
          </a:prstGeom>
          <a:noFill/>
        </p:spPr>
        <p:txBody>
          <a:bodyPr wrap="square" lIns="45720" rIns="45720" anchor="t">
            <a:spAutoFit/>
          </a:bodyPr>
          <a:lstStyle/>
          <a:p>
            <a:pPr algn="l">
              <a:spcAft>
                <a:spcPts val="300"/>
              </a:spcAft>
            </a:pPr>
            <a:r>
              <a:rPr sz="2800" b="1">
                <a:solidFill>
                  <a:srgbClr val="F5F8FC"/>
                </a:solidFill>
                <a:latin typeface="Aptos"/>
              </a:rPr>
              <a:t>Key takeaways</a:t>
            </a:r>
          </a:p>
        </p:txBody>
      </p:sp>
      <p:sp>
        <p:nvSpPr>
          <p:cNvPr id="4" name="TextBox 3"/>
          <p:cNvSpPr txBox="1"/>
          <p:nvPr/>
        </p:nvSpPr>
        <p:spPr>
          <a:xfrm>
            <a:off x="621792" y="1371600"/>
            <a:ext cx="10789920" cy="384048"/>
          </a:xfrm>
          <a:prstGeom prst="rect">
            <a:avLst/>
          </a:prstGeom>
          <a:noFill/>
        </p:spPr>
        <p:txBody>
          <a:bodyPr wrap="square" lIns="45720" rIns="45720" anchor="t">
            <a:spAutoFit/>
          </a:bodyPr>
          <a:lstStyle/>
          <a:p>
            <a:pPr algn="l">
              <a:spcAft>
                <a:spcPts val="300"/>
              </a:spcAft>
            </a:pPr>
            <a:r>
              <a:rPr sz="1300" b="0">
                <a:solidFill>
                  <a:srgbClr val="B4C2D6"/>
                </a:solidFill>
                <a:latin typeface="Aptos"/>
              </a:rPr>
              <a:t>A few seconds of verification can prevent a serious incident.</a:t>
            </a:r>
          </a:p>
        </p:txBody>
      </p:sp>
      <p:sp>
        <p:nvSpPr>
          <p:cNvPr id="5" name="Rounded Rectangle 4"/>
          <p:cNvSpPr/>
          <p:nvPr/>
        </p:nvSpPr>
        <p:spPr>
          <a:xfrm>
            <a:off x="777240" y="1920240"/>
            <a:ext cx="3337560" cy="2377440"/>
          </a:xfrm>
          <a:prstGeom prst="roundRect">
            <a:avLst/>
          </a:prstGeom>
          <a:solidFill>
            <a:srgbClr val="14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920240"/>
            <a:ext cx="73152" cy="2377440"/>
          </a:xfrm>
          <a:prstGeom prst="rect">
            <a:avLst/>
          </a:prstGeom>
          <a:solidFill>
            <a:srgbClr val="3075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103120"/>
            <a:ext cx="2926079" cy="365760"/>
          </a:xfrm>
          <a:prstGeom prst="rect">
            <a:avLst/>
          </a:prstGeom>
          <a:noFill/>
        </p:spPr>
        <p:txBody>
          <a:bodyPr wrap="square" lIns="45720" rIns="45720" anchor="t">
            <a:spAutoFit/>
          </a:bodyPr>
          <a:lstStyle/>
          <a:p>
            <a:pPr algn="l">
              <a:spcAft>
                <a:spcPts val="300"/>
              </a:spcAft>
            </a:pPr>
            <a:r>
              <a:rPr sz="1800" b="1">
                <a:solidFill>
                  <a:srgbClr val="F5F8FC"/>
                </a:solidFill>
                <a:latin typeface="Aptos"/>
              </a:rPr>
              <a:t>1. THINK</a:t>
            </a:r>
          </a:p>
        </p:txBody>
      </p:sp>
      <p:sp>
        <p:nvSpPr>
          <p:cNvPr id="8" name="TextBox 7"/>
          <p:cNvSpPr txBox="1"/>
          <p:nvPr/>
        </p:nvSpPr>
        <p:spPr>
          <a:xfrm>
            <a:off x="1005840" y="2578608"/>
            <a:ext cx="2926079" cy="1600200"/>
          </a:xfrm>
          <a:prstGeom prst="rect">
            <a:avLst/>
          </a:prstGeom>
          <a:noFill/>
        </p:spPr>
        <p:txBody>
          <a:bodyPr wrap="square" lIns="45720" rIns="45720" anchor="t">
            <a:spAutoFit/>
          </a:bodyPr>
          <a:lstStyle/>
          <a:p>
            <a:pPr algn="l">
              <a:spcAft>
                <a:spcPts val="300"/>
              </a:spcAft>
            </a:pPr>
            <a:r>
              <a:rPr sz="1500" b="0">
                <a:solidFill>
                  <a:srgbClr val="B4C2D6"/>
                </a:solidFill>
                <a:latin typeface="Aptos"/>
              </a:rPr>
              <a:t>Urgency, fear, authority, and rewards are often used to pressure people into acting.</a:t>
            </a:r>
          </a:p>
        </p:txBody>
      </p:sp>
      <p:sp>
        <p:nvSpPr>
          <p:cNvPr id="9" name="Rounded Rectangle 8"/>
          <p:cNvSpPr/>
          <p:nvPr/>
        </p:nvSpPr>
        <p:spPr>
          <a:xfrm>
            <a:off x="4434840" y="1920240"/>
            <a:ext cx="3337560" cy="2377440"/>
          </a:xfrm>
          <a:prstGeom prst="roundRect">
            <a:avLst/>
          </a:prstGeom>
          <a:solidFill>
            <a:srgbClr val="14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434840" y="1920240"/>
            <a:ext cx="73152" cy="2377440"/>
          </a:xfrm>
          <a:prstGeom prst="rect">
            <a:avLst/>
          </a:prstGeom>
          <a:solidFill>
            <a:srgbClr val="FFB1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2103120"/>
            <a:ext cx="2926079" cy="365760"/>
          </a:xfrm>
          <a:prstGeom prst="rect">
            <a:avLst/>
          </a:prstGeom>
          <a:noFill/>
        </p:spPr>
        <p:txBody>
          <a:bodyPr wrap="square" lIns="45720" rIns="45720" anchor="t">
            <a:spAutoFit/>
          </a:bodyPr>
          <a:lstStyle/>
          <a:p>
            <a:pPr algn="l">
              <a:spcAft>
                <a:spcPts val="300"/>
              </a:spcAft>
            </a:pPr>
            <a:r>
              <a:rPr sz="1800" b="1">
                <a:solidFill>
                  <a:srgbClr val="F5F8FC"/>
                </a:solidFill>
                <a:latin typeface="Aptos"/>
              </a:rPr>
              <a:t>2. CHECK</a:t>
            </a:r>
          </a:p>
        </p:txBody>
      </p:sp>
      <p:sp>
        <p:nvSpPr>
          <p:cNvPr id="12" name="TextBox 11"/>
          <p:cNvSpPr txBox="1"/>
          <p:nvPr/>
        </p:nvSpPr>
        <p:spPr>
          <a:xfrm>
            <a:off x="4663440" y="2578608"/>
            <a:ext cx="2926079" cy="1600200"/>
          </a:xfrm>
          <a:prstGeom prst="rect">
            <a:avLst/>
          </a:prstGeom>
          <a:noFill/>
        </p:spPr>
        <p:txBody>
          <a:bodyPr wrap="square" lIns="45720" rIns="45720" anchor="t">
            <a:spAutoFit/>
          </a:bodyPr>
          <a:lstStyle/>
          <a:p>
            <a:pPr algn="l">
              <a:spcAft>
                <a:spcPts val="300"/>
              </a:spcAft>
            </a:pPr>
            <a:r>
              <a:rPr sz="1500" b="0">
                <a:solidFill>
                  <a:srgbClr val="B4C2D6"/>
                </a:solidFill>
                <a:latin typeface="Aptos"/>
              </a:rPr>
              <a:t>Inspect senders, links, website addresses, and unexpected requests. A logo is not proof.</a:t>
            </a:r>
          </a:p>
        </p:txBody>
      </p:sp>
      <p:sp>
        <p:nvSpPr>
          <p:cNvPr id="13" name="Rounded Rectangle 12"/>
          <p:cNvSpPr/>
          <p:nvPr/>
        </p:nvSpPr>
        <p:spPr>
          <a:xfrm>
            <a:off x="8092440" y="1920240"/>
            <a:ext cx="3337560" cy="2377440"/>
          </a:xfrm>
          <a:prstGeom prst="roundRect">
            <a:avLst/>
          </a:prstGeom>
          <a:solidFill>
            <a:srgbClr val="14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92440" y="1920240"/>
            <a:ext cx="73152" cy="2377440"/>
          </a:xfrm>
          <a:prstGeom prst="rect">
            <a:avLst/>
          </a:prstGeom>
          <a:solidFill>
            <a:srgbClr val="55CD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2103120"/>
            <a:ext cx="2926079" cy="365760"/>
          </a:xfrm>
          <a:prstGeom prst="rect">
            <a:avLst/>
          </a:prstGeom>
          <a:noFill/>
        </p:spPr>
        <p:txBody>
          <a:bodyPr wrap="square" lIns="45720" rIns="45720" anchor="t">
            <a:spAutoFit/>
          </a:bodyPr>
          <a:lstStyle/>
          <a:p>
            <a:pPr algn="l">
              <a:spcAft>
                <a:spcPts val="300"/>
              </a:spcAft>
            </a:pPr>
            <a:r>
              <a:rPr sz="1800" b="1">
                <a:solidFill>
                  <a:srgbClr val="F5F8FC"/>
                </a:solidFill>
                <a:latin typeface="Aptos"/>
              </a:rPr>
              <a:t>3. ACT SAFELY</a:t>
            </a:r>
          </a:p>
        </p:txBody>
      </p:sp>
      <p:sp>
        <p:nvSpPr>
          <p:cNvPr id="16" name="TextBox 15"/>
          <p:cNvSpPr txBox="1"/>
          <p:nvPr/>
        </p:nvSpPr>
        <p:spPr>
          <a:xfrm>
            <a:off x="8321040" y="2578608"/>
            <a:ext cx="2926079" cy="1600200"/>
          </a:xfrm>
          <a:prstGeom prst="rect">
            <a:avLst/>
          </a:prstGeom>
          <a:noFill/>
        </p:spPr>
        <p:txBody>
          <a:bodyPr wrap="square" lIns="45720" rIns="45720" anchor="t">
            <a:spAutoFit/>
          </a:bodyPr>
          <a:lstStyle/>
          <a:p>
            <a:pPr algn="l">
              <a:spcAft>
                <a:spcPts val="300"/>
              </a:spcAft>
            </a:pPr>
            <a:r>
              <a:rPr sz="1500" b="0">
                <a:solidFill>
                  <a:srgbClr val="B4C2D6"/>
                </a:solidFill>
                <a:latin typeface="Aptos"/>
              </a:rPr>
              <a:t>Verify independently, use MFA, report suspicious messages, and respond quickly if something goes wrong.</a:t>
            </a:r>
          </a:p>
        </p:txBody>
      </p:sp>
      <p:sp>
        <p:nvSpPr>
          <p:cNvPr id="17" name="TextBox 16"/>
          <p:cNvSpPr txBox="1"/>
          <p:nvPr/>
        </p:nvSpPr>
        <p:spPr>
          <a:xfrm>
            <a:off x="914400" y="4937760"/>
            <a:ext cx="10241280" cy="502920"/>
          </a:xfrm>
          <a:prstGeom prst="rect">
            <a:avLst/>
          </a:prstGeom>
          <a:noFill/>
        </p:spPr>
        <p:txBody>
          <a:bodyPr wrap="square" lIns="45720" rIns="45720" anchor="t">
            <a:spAutoFit/>
          </a:bodyPr>
          <a:lstStyle/>
          <a:p>
            <a:pPr algn="ctr">
              <a:spcAft>
                <a:spcPts val="300"/>
              </a:spcAft>
            </a:pPr>
            <a:r>
              <a:rPr sz="2200" b="1">
                <a:solidFill>
                  <a:srgbClr val="F5F8FC"/>
                </a:solidFill>
                <a:latin typeface="Aptos"/>
              </a:rPr>
              <a:t>Security is a habit—not a single tool.</a:t>
            </a:r>
          </a:p>
        </p:txBody>
      </p:sp>
      <p:sp>
        <p:nvSpPr>
          <p:cNvPr id="18" name="TextBox 17"/>
          <p:cNvSpPr txBox="1"/>
          <p:nvPr/>
        </p:nvSpPr>
        <p:spPr>
          <a:xfrm>
            <a:off x="914400" y="5532120"/>
            <a:ext cx="10241280" cy="320040"/>
          </a:xfrm>
          <a:prstGeom prst="rect">
            <a:avLst/>
          </a:prstGeom>
          <a:noFill/>
        </p:spPr>
        <p:txBody>
          <a:bodyPr wrap="square" lIns="45720" rIns="45720" anchor="t">
            <a:spAutoFit/>
          </a:bodyPr>
          <a:lstStyle/>
          <a:p>
            <a:pPr algn="ctr">
              <a:spcAft>
                <a:spcPts val="300"/>
              </a:spcAft>
            </a:pPr>
            <a:r>
              <a:rPr sz="1600" b="1">
                <a:solidFill>
                  <a:srgbClr val="44D2DC"/>
                </a:solidFill>
                <a:latin typeface="Aptos"/>
              </a:rPr>
              <a:t>Thank you</a:t>
            </a:r>
          </a:p>
        </p:txBody>
      </p:sp>
      <p:sp>
        <p:nvSpPr>
          <p:cNvPr id="19" name="TextBox 18"/>
          <p:cNvSpPr txBox="1"/>
          <p:nvPr/>
        </p:nvSpPr>
        <p:spPr>
          <a:xfrm>
            <a:off x="594360" y="6510528"/>
            <a:ext cx="6400800" cy="164592"/>
          </a:xfrm>
          <a:prstGeom prst="rect">
            <a:avLst/>
          </a:prstGeom>
          <a:noFill/>
        </p:spPr>
        <p:txBody>
          <a:bodyPr wrap="square" lIns="45720" rIns="45720" anchor="t">
            <a:spAutoFit/>
          </a:bodyPr>
          <a:lstStyle/>
          <a:p>
            <a:pPr algn="l">
              <a:spcAft>
                <a:spcPts val="300"/>
              </a:spcAft>
            </a:pPr>
            <a:r>
              <a:rPr sz="800" b="1">
                <a:solidFill>
                  <a:srgbClr val="B4C2D6"/>
                </a:solidFill>
                <a:latin typeface="Aptos"/>
              </a:rPr>
              <a:t>CODEALPHA  •  PHISHING AWARENESS</a:t>
            </a:r>
          </a:p>
        </p:txBody>
      </p:sp>
      <p:sp>
        <p:nvSpPr>
          <p:cNvPr id="20" name="TextBox 19"/>
          <p:cNvSpPr txBox="1"/>
          <p:nvPr/>
        </p:nvSpPr>
        <p:spPr>
          <a:xfrm>
            <a:off x="11247120" y="6473952"/>
            <a:ext cx="320040" cy="201168"/>
          </a:xfrm>
          <a:prstGeom prst="rect">
            <a:avLst/>
          </a:prstGeom>
          <a:noFill/>
        </p:spPr>
        <p:txBody>
          <a:bodyPr wrap="square" lIns="45720" rIns="45720" anchor="t">
            <a:spAutoFit/>
          </a:bodyPr>
          <a:lstStyle/>
          <a:p>
            <a:pPr algn="r">
              <a:spcAft>
                <a:spcPts val="300"/>
              </a:spcAft>
            </a:pPr>
            <a:r>
              <a:rPr sz="900" b="1">
                <a:solidFill>
                  <a:srgbClr val="44D2DC"/>
                </a:solidFill>
                <a:latin typeface="Apto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C1830"/>
        </a:solidFill>
        <a:effectLst/>
      </p:bgPr>
    </p:bg>
    <p:spTree>
      <p:nvGrpSpPr>
        <p:cNvPr id="1" name=""/>
        <p:cNvGrpSpPr/>
        <p:nvPr/>
      </p:nvGrpSpPr>
      <p:grpSpPr/>
      <p:sp>
        <p:nvSpPr>
          <p:cNvPr id="2" name="TextBox 1"/>
          <p:cNvSpPr txBox="1"/>
          <p:nvPr/>
        </p:nvSpPr>
        <p:spPr>
          <a:xfrm>
            <a:off x="594360" y="320040"/>
            <a:ext cx="5303520" cy="274320"/>
          </a:xfrm>
          <a:prstGeom prst="rect">
            <a:avLst/>
          </a:prstGeom>
          <a:noFill/>
        </p:spPr>
        <p:txBody>
          <a:bodyPr wrap="square" lIns="45720" rIns="45720" anchor="t">
            <a:spAutoFit/>
          </a:bodyPr>
          <a:lstStyle/>
          <a:p>
            <a:pPr algn="l">
              <a:spcAft>
                <a:spcPts val="300"/>
              </a:spcAft>
            </a:pPr>
            <a:r>
              <a:rPr sz="1000" b="1">
                <a:solidFill>
                  <a:srgbClr val="44D2DC"/>
                </a:solidFill>
                <a:latin typeface="Aptos"/>
              </a:rPr>
              <a:t>12  /  REFERENCES</a:t>
            </a:r>
          </a:p>
        </p:txBody>
      </p:sp>
      <p:sp>
        <p:nvSpPr>
          <p:cNvPr id="3" name="TextBox 2"/>
          <p:cNvSpPr txBox="1"/>
          <p:nvPr/>
        </p:nvSpPr>
        <p:spPr>
          <a:xfrm>
            <a:off x="594360" y="749808"/>
            <a:ext cx="10972800" cy="594360"/>
          </a:xfrm>
          <a:prstGeom prst="rect">
            <a:avLst/>
          </a:prstGeom>
          <a:noFill/>
        </p:spPr>
        <p:txBody>
          <a:bodyPr wrap="square" lIns="45720" rIns="45720" anchor="t">
            <a:spAutoFit/>
          </a:bodyPr>
          <a:lstStyle/>
          <a:p>
            <a:pPr algn="l">
              <a:spcAft>
                <a:spcPts val="300"/>
              </a:spcAft>
            </a:pPr>
            <a:r>
              <a:rPr sz="2800" b="1">
                <a:solidFill>
                  <a:srgbClr val="F5F8FC"/>
                </a:solidFill>
                <a:latin typeface="Aptos"/>
              </a:rPr>
              <a:t>Trusted sources and further reading</a:t>
            </a:r>
          </a:p>
        </p:txBody>
      </p:sp>
      <p:sp>
        <p:nvSpPr>
          <p:cNvPr id="4" name="TextBox 3"/>
          <p:cNvSpPr txBox="1"/>
          <p:nvPr/>
        </p:nvSpPr>
        <p:spPr>
          <a:xfrm>
            <a:off x="621792" y="1371600"/>
            <a:ext cx="10789920" cy="384048"/>
          </a:xfrm>
          <a:prstGeom prst="rect">
            <a:avLst/>
          </a:prstGeom>
          <a:noFill/>
        </p:spPr>
        <p:txBody>
          <a:bodyPr wrap="square" lIns="45720" rIns="45720" anchor="t">
            <a:spAutoFit/>
          </a:bodyPr>
          <a:lstStyle/>
          <a:p>
            <a:pPr algn="l">
              <a:spcAft>
                <a:spcPts val="300"/>
              </a:spcAft>
            </a:pPr>
            <a:r>
              <a:rPr sz="1300" b="0">
                <a:solidFill>
                  <a:srgbClr val="B4C2D6"/>
                </a:solidFill>
                <a:latin typeface="Aptos"/>
              </a:rPr>
              <a:t>Sources used for the guidance and real-world example in this presentation.</a:t>
            </a:r>
          </a:p>
        </p:txBody>
      </p:sp>
      <p:sp>
        <p:nvSpPr>
          <p:cNvPr id="5" name="Rounded Rectangle 4"/>
          <p:cNvSpPr/>
          <p:nvPr/>
        </p:nvSpPr>
        <p:spPr>
          <a:xfrm>
            <a:off x="777240" y="1874519"/>
            <a:ext cx="10652760" cy="658368"/>
          </a:xfrm>
          <a:prstGeom prst="roundRect">
            <a:avLst/>
          </a:prstGeom>
          <a:solidFill>
            <a:srgbClr val="14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65960"/>
            <a:ext cx="9966960" cy="228600"/>
          </a:xfrm>
          <a:prstGeom prst="rect">
            <a:avLst/>
          </a:prstGeom>
          <a:noFill/>
        </p:spPr>
        <p:txBody>
          <a:bodyPr wrap="square" lIns="45720" rIns="45720" anchor="t">
            <a:spAutoFit/>
          </a:bodyPr>
          <a:lstStyle/>
          <a:p>
            <a:pPr algn="l">
              <a:spcAft>
                <a:spcPts val="300"/>
              </a:spcAft>
            </a:pPr>
            <a:r>
              <a:rPr sz="1300" b="1">
                <a:solidFill>
                  <a:srgbClr val="F5F8FC"/>
                </a:solidFill>
                <a:latin typeface="Aptos"/>
              </a:rPr>
              <a:t>CISA — Recognize and Report Phishing</a:t>
            </a:r>
          </a:p>
        </p:txBody>
      </p:sp>
      <p:sp>
        <p:nvSpPr>
          <p:cNvPr id="7" name="TextBox 6"/>
          <p:cNvSpPr txBox="1"/>
          <p:nvPr/>
        </p:nvSpPr>
        <p:spPr>
          <a:xfrm>
            <a:off x="1005840" y="2231136"/>
            <a:ext cx="9966960" cy="201168"/>
          </a:xfrm>
          <a:prstGeom prst="rect">
            <a:avLst/>
          </a:prstGeom>
          <a:noFill/>
        </p:spPr>
        <p:txBody>
          <a:bodyPr wrap="square" lIns="45720" rIns="45720" anchor="t">
            <a:spAutoFit/>
          </a:bodyPr>
          <a:lstStyle/>
          <a:p>
            <a:pPr algn="l">
              <a:spcAft>
                <a:spcPts val="300"/>
              </a:spcAft>
            </a:pPr>
            <a:r>
              <a:rPr sz="900" b="0">
                <a:solidFill>
                  <a:srgbClr val="44D2DC"/>
                </a:solidFill>
                <a:latin typeface="Aptos"/>
              </a:rPr>
              <a:t>https://www.cisa.gov/secure-our-world/recognize-and-report-phishing</a:t>
            </a:r>
          </a:p>
        </p:txBody>
      </p:sp>
      <p:sp>
        <p:nvSpPr>
          <p:cNvPr id="8" name="Rounded Rectangle 7"/>
          <p:cNvSpPr/>
          <p:nvPr/>
        </p:nvSpPr>
        <p:spPr>
          <a:xfrm>
            <a:off x="777240" y="2743200"/>
            <a:ext cx="10652760" cy="658368"/>
          </a:xfrm>
          <a:prstGeom prst="roundRect">
            <a:avLst/>
          </a:prstGeom>
          <a:solidFill>
            <a:srgbClr val="14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834640"/>
            <a:ext cx="9966960" cy="228600"/>
          </a:xfrm>
          <a:prstGeom prst="rect">
            <a:avLst/>
          </a:prstGeom>
          <a:noFill/>
        </p:spPr>
        <p:txBody>
          <a:bodyPr wrap="square" lIns="45720" rIns="45720" anchor="t">
            <a:spAutoFit/>
          </a:bodyPr>
          <a:lstStyle/>
          <a:p>
            <a:pPr algn="l">
              <a:spcAft>
                <a:spcPts val="300"/>
              </a:spcAft>
            </a:pPr>
            <a:r>
              <a:rPr sz="1300" b="1">
                <a:solidFill>
                  <a:srgbClr val="F5F8FC"/>
                </a:solidFill>
                <a:latin typeface="Aptos"/>
              </a:rPr>
              <a:t>Federal Trade Commission — How To Recognize and Avoid Phishing Scams</a:t>
            </a:r>
          </a:p>
        </p:txBody>
      </p:sp>
      <p:sp>
        <p:nvSpPr>
          <p:cNvPr id="10" name="TextBox 9"/>
          <p:cNvSpPr txBox="1"/>
          <p:nvPr/>
        </p:nvSpPr>
        <p:spPr>
          <a:xfrm>
            <a:off x="1005840" y="3099816"/>
            <a:ext cx="9966960" cy="201168"/>
          </a:xfrm>
          <a:prstGeom prst="rect">
            <a:avLst/>
          </a:prstGeom>
          <a:noFill/>
        </p:spPr>
        <p:txBody>
          <a:bodyPr wrap="square" lIns="45720" rIns="45720" anchor="t">
            <a:spAutoFit/>
          </a:bodyPr>
          <a:lstStyle/>
          <a:p>
            <a:pPr algn="l">
              <a:spcAft>
                <a:spcPts val="300"/>
              </a:spcAft>
            </a:pPr>
            <a:r>
              <a:rPr sz="900" b="0">
                <a:solidFill>
                  <a:srgbClr val="44D2DC"/>
                </a:solidFill>
                <a:latin typeface="Aptos"/>
              </a:rPr>
              <a:t>https://consumer.ftc.gov/articles/how-recognize-avoid-phishing-scams</a:t>
            </a:r>
          </a:p>
        </p:txBody>
      </p:sp>
      <p:sp>
        <p:nvSpPr>
          <p:cNvPr id="11" name="Rounded Rectangle 10"/>
          <p:cNvSpPr/>
          <p:nvPr/>
        </p:nvSpPr>
        <p:spPr>
          <a:xfrm>
            <a:off x="777240" y="3611879"/>
            <a:ext cx="10652760" cy="658368"/>
          </a:xfrm>
          <a:prstGeom prst="roundRect">
            <a:avLst/>
          </a:prstGeom>
          <a:solidFill>
            <a:srgbClr val="14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703320"/>
            <a:ext cx="9966960" cy="228600"/>
          </a:xfrm>
          <a:prstGeom prst="rect">
            <a:avLst/>
          </a:prstGeom>
          <a:noFill/>
        </p:spPr>
        <p:txBody>
          <a:bodyPr wrap="square" lIns="45720" rIns="45720" anchor="t">
            <a:spAutoFit/>
          </a:bodyPr>
          <a:lstStyle/>
          <a:p>
            <a:pPr algn="l">
              <a:spcAft>
                <a:spcPts val="300"/>
              </a:spcAft>
            </a:pPr>
            <a:r>
              <a:rPr sz="1300" b="1">
                <a:solidFill>
                  <a:srgbClr val="F5F8FC"/>
                </a:solidFill>
                <a:latin typeface="Aptos"/>
              </a:rPr>
              <a:t>U.S. Department of Justice — Lithuanian Man Sentenced to 5 Years in Prison for Theft of Over $120 Million</a:t>
            </a:r>
          </a:p>
        </p:txBody>
      </p:sp>
      <p:sp>
        <p:nvSpPr>
          <p:cNvPr id="13" name="TextBox 12"/>
          <p:cNvSpPr txBox="1"/>
          <p:nvPr/>
        </p:nvSpPr>
        <p:spPr>
          <a:xfrm>
            <a:off x="1005840" y="3968496"/>
            <a:ext cx="9966960" cy="201168"/>
          </a:xfrm>
          <a:prstGeom prst="rect">
            <a:avLst/>
          </a:prstGeom>
          <a:noFill/>
        </p:spPr>
        <p:txBody>
          <a:bodyPr wrap="square" lIns="45720" rIns="45720" anchor="t">
            <a:spAutoFit/>
          </a:bodyPr>
          <a:lstStyle/>
          <a:p>
            <a:pPr algn="l">
              <a:spcAft>
                <a:spcPts val="300"/>
              </a:spcAft>
            </a:pPr>
            <a:r>
              <a:rPr sz="900" b="0">
                <a:solidFill>
                  <a:srgbClr val="44D2DC"/>
                </a:solidFill>
                <a:latin typeface="Aptos"/>
              </a:rPr>
              <a:t>https://www.justice.gov/usao-sdny/pr/lithuanian-man-sentenced-5-years-prison-theft-over-120-million-fraudulent-business</a:t>
            </a:r>
          </a:p>
        </p:txBody>
      </p:sp>
      <p:sp>
        <p:nvSpPr>
          <p:cNvPr id="14" name="Rounded Rectangle 13"/>
          <p:cNvSpPr/>
          <p:nvPr/>
        </p:nvSpPr>
        <p:spPr>
          <a:xfrm>
            <a:off x="777240" y="4480559"/>
            <a:ext cx="10652760" cy="658368"/>
          </a:xfrm>
          <a:prstGeom prst="roundRect">
            <a:avLst/>
          </a:prstGeom>
          <a:solidFill>
            <a:srgbClr val="142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4571999"/>
            <a:ext cx="9966960" cy="228600"/>
          </a:xfrm>
          <a:prstGeom prst="rect">
            <a:avLst/>
          </a:prstGeom>
          <a:noFill/>
        </p:spPr>
        <p:txBody>
          <a:bodyPr wrap="square" lIns="45720" rIns="45720" anchor="t">
            <a:spAutoFit/>
          </a:bodyPr>
          <a:lstStyle/>
          <a:p>
            <a:pPr algn="l">
              <a:spcAft>
                <a:spcPts val="300"/>
              </a:spcAft>
            </a:pPr>
            <a:r>
              <a:rPr sz="1300" b="1">
                <a:solidFill>
                  <a:srgbClr val="F5F8FC"/>
                </a:solidFill>
                <a:latin typeface="Aptos"/>
              </a:rPr>
              <a:t>FBI — Protect Yourself from Business Email Compromise Schemes</a:t>
            </a:r>
          </a:p>
        </p:txBody>
      </p:sp>
      <p:sp>
        <p:nvSpPr>
          <p:cNvPr id="16" name="TextBox 15"/>
          <p:cNvSpPr txBox="1"/>
          <p:nvPr/>
        </p:nvSpPr>
        <p:spPr>
          <a:xfrm>
            <a:off x="1005840" y="4837175"/>
            <a:ext cx="9966960" cy="201168"/>
          </a:xfrm>
          <a:prstGeom prst="rect">
            <a:avLst/>
          </a:prstGeom>
          <a:noFill/>
        </p:spPr>
        <p:txBody>
          <a:bodyPr wrap="square" lIns="45720" rIns="45720" anchor="t">
            <a:spAutoFit/>
          </a:bodyPr>
          <a:lstStyle/>
          <a:p>
            <a:pPr algn="l">
              <a:spcAft>
                <a:spcPts val="300"/>
              </a:spcAft>
            </a:pPr>
            <a:r>
              <a:rPr sz="900" b="0">
                <a:solidFill>
                  <a:srgbClr val="44D2DC"/>
                </a:solidFill>
                <a:latin typeface="Aptos"/>
              </a:rPr>
              <a:t>https://www.fbi.gov/news/stories/ringleader-of-business-email-compromise-scheme-sentenced-012820</a:t>
            </a:r>
          </a:p>
        </p:txBody>
      </p:sp>
      <p:sp>
        <p:nvSpPr>
          <p:cNvPr id="17" name="TextBox 16"/>
          <p:cNvSpPr txBox="1"/>
          <p:nvPr/>
        </p:nvSpPr>
        <p:spPr>
          <a:xfrm>
            <a:off x="868680" y="5669280"/>
            <a:ext cx="10515600" cy="320040"/>
          </a:xfrm>
          <a:prstGeom prst="rect">
            <a:avLst/>
          </a:prstGeom>
          <a:noFill/>
        </p:spPr>
        <p:txBody>
          <a:bodyPr wrap="square" lIns="45720" rIns="45720" anchor="t">
            <a:spAutoFit/>
          </a:bodyPr>
          <a:lstStyle/>
          <a:p>
            <a:pPr algn="l">
              <a:spcAft>
                <a:spcPts val="300"/>
              </a:spcAft>
            </a:pPr>
            <a:r>
              <a:rPr sz="1100" b="0">
                <a:solidFill>
                  <a:srgbClr val="B4C2D6"/>
                </a:solidFill>
                <a:latin typeface="Aptos"/>
              </a:rPr>
              <a:t>Prepared for educational awareness. Examples are for training; never test links or credentials on a suspicious site.</a:t>
            </a:r>
          </a:p>
        </p:txBody>
      </p:sp>
      <p:sp>
        <p:nvSpPr>
          <p:cNvPr id="18" name="TextBox 17"/>
          <p:cNvSpPr txBox="1"/>
          <p:nvPr/>
        </p:nvSpPr>
        <p:spPr>
          <a:xfrm>
            <a:off x="594360" y="6510528"/>
            <a:ext cx="6400800" cy="164592"/>
          </a:xfrm>
          <a:prstGeom prst="rect">
            <a:avLst/>
          </a:prstGeom>
          <a:noFill/>
        </p:spPr>
        <p:txBody>
          <a:bodyPr wrap="square" lIns="45720" rIns="45720" anchor="t">
            <a:spAutoFit/>
          </a:bodyPr>
          <a:lstStyle/>
          <a:p>
            <a:pPr algn="l">
              <a:spcAft>
                <a:spcPts val="300"/>
              </a:spcAft>
            </a:pPr>
            <a:r>
              <a:rPr sz="800" b="1">
                <a:solidFill>
                  <a:srgbClr val="B4C2D6"/>
                </a:solidFill>
                <a:latin typeface="Aptos"/>
              </a:rPr>
              <a:t>CODEALPHA  •  PHISHING AWARENESS</a:t>
            </a:r>
          </a:p>
        </p:txBody>
      </p:sp>
      <p:sp>
        <p:nvSpPr>
          <p:cNvPr id="19" name="TextBox 18"/>
          <p:cNvSpPr txBox="1"/>
          <p:nvPr/>
        </p:nvSpPr>
        <p:spPr>
          <a:xfrm>
            <a:off x="11247120" y="6473952"/>
            <a:ext cx="320040" cy="201168"/>
          </a:xfrm>
          <a:prstGeom prst="rect">
            <a:avLst/>
          </a:prstGeom>
          <a:noFill/>
        </p:spPr>
        <p:txBody>
          <a:bodyPr wrap="square" lIns="45720" rIns="45720" anchor="t">
            <a:spAutoFit/>
          </a:bodyPr>
          <a:lstStyle/>
          <a:p>
            <a:pPr algn="r">
              <a:spcAft>
                <a:spcPts val="300"/>
              </a:spcAft>
            </a:pPr>
            <a:r>
              <a:rPr sz="900" b="1">
                <a:solidFill>
                  <a:srgbClr val="44D2DC"/>
                </a:solidFill>
                <a:latin typeface="Aptos"/>
              </a:rP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